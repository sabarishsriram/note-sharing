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0" r:id="rId7"/>
    <p:sldId id="354" r:id="rId8"/>
    <p:sldId id="355" r:id="rId9"/>
    <p:sldId id="356" r:id="rId10"/>
    <p:sldId id="353" r:id="rId11"/>
    <p:sldId id="357" r:id="rId12"/>
    <p:sldId id="265" r:id="rId13"/>
    <p:sldId id="294" r:id="rId14"/>
    <p:sldId id="296" r:id="rId15"/>
    <p:sldId id="340" r:id="rId16"/>
    <p:sldId id="339" r:id="rId17"/>
    <p:sldId id="341" r:id="rId18"/>
    <p:sldId id="344" r:id="rId19"/>
    <p:sldId id="284" r:id="rId20"/>
    <p:sldId id="358" r:id="rId21"/>
    <p:sldId id="359" r:id="rId22"/>
    <p:sldId id="360" r:id="rId23"/>
    <p:sldId id="361" r:id="rId24"/>
    <p:sldId id="362" r:id="rId25"/>
    <p:sldId id="363" r:id="rId26"/>
    <p:sldId id="285" r:id="rId27"/>
    <p:sldId id="289" r:id="rId28"/>
    <p:sldId id="290" r:id="rId29"/>
    <p:sldId id="291" r:id="rId30"/>
    <p:sldId id="292" r:id="rId31"/>
    <p:sldId id="29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40" d="100"/>
          <a:sy n="40" d="100"/>
        </p:scale>
        <p:origin x="1612" y="3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144B0-FE16-889F-8381-BBE9F75AAD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0067A5-0BD7-71E4-800F-8773546142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38E9F7C-CFFB-A1AC-FBEC-1260383960DF}"/>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5" name="Footer Placeholder 4">
            <a:extLst>
              <a:ext uri="{FF2B5EF4-FFF2-40B4-BE49-F238E27FC236}">
                <a16:creationId xmlns:a16="http://schemas.microsoft.com/office/drawing/2014/main" id="{F6B06E77-567C-B460-4D83-E55D0C3CCD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43B9A6-4187-7EC8-2064-2338FF918763}"/>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3535750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82A9-9F70-65E9-86E7-259AB4720A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B8090A-CE55-36E4-BE2B-EB75A2170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07F935-2BA7-B99A-EA70-4CC359773D68}"/>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5" name="Footer Placeholder 4">
            <a:extLst>
              <a:ext uri="{FF2B5EF4-FFF2-40B4-BE49-F238E27FC236}">
                <a16:creationId xmlns:a16="http://schemas.microsoft.com/office/drawing/2014/main" id="{EED15780-E9D2-CB10-DCC2-91898E1FC7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0D8A86-E74F-9D89-FB82-CFEFB730C4FC}"/>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2434693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2B895-B508-4735-5657-130205F362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7120A3-C65E-751D-F237-CEC65F658D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0D16B9-0445-B849-4D18-B3D58E215BF7}"/>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5" name="Footer Placeholder 4">
            <a:extLst>
              <a:ext uri="{FF2B5EF4-FFF2-40B4-BE49-F238E27FC236}">
                <a16:creationId xmlns:a16="http://schemas.microsoft.com/office/drawing/2014/main" id="{7847AC4A-47EF-7BC9-0777-E5019FA218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53415F-C899-17CB-73C2-246FD46DE89B}"/>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39556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3AEB-26BF-7A6E-6423-40BB14E05D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FA53B6-CC91-513A-ECDB-3AB7D3C9B5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1EA8EB-5349-462D-5CB1-C0F30B8F73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AE789B-852B-E49D-CF8E-FD8451160DE8}"/>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6" name="Footer Placeholder 5">
            <a:extLst>
              <a:ext uri="{FF2B5EF4-FFF2-40B4-BE49-F238E27FC236}">
                <a16:creationId xmlns:a16="http://schemas.microsoft.com/office/drawing/2014/main" id="{EAFA5F6D-31F3-966D-18CE-F0F33F107B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5E4B3F-355C-D3ED-D5AC-6C585D0CFF59}"/>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1169796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523B-CFE6-F0EF-278C-3ACC5E77C96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DE8671-6D66-74AF-4053-06C49E8BF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3D6DB-5372-7ACD-E9E0-1B7999C5D1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854A34-9777-DB28-2AA0-FA785709CB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332914-4986-8805-A5C0-8AE37C5F54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C77933-D1C3-EC43-7EAD-ADD0C552D14D}"/>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8" name="Footer Placeholder 7">
            <a:extLst>
              <a:ext uri="{FF2B5EF4-FFF2-40B4-BE49-F238E27FC236}">
                <a16:creationId xmlns:a16="http://schemas.microsoft.com/office/drawing/2014/main" id="{7AE60FF2-6DB6-7B4E-317B-0F7BD4F957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1F3411-6FC7-13FA-14B1-05DA53911DE8}"/>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4174358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44F53-9437-7289-EF94-5878778772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3F467F-CB21-A953-9775-CFB4842EE9D7}"/>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4" name="Footer Placeholder 3">
            <a:extLst>
              <a:ext uri="{FF2B5EF4-FFF2-40B4-BE49-F238E27FC236}">
                <a16:creationId xmlns:a16="http://schemas.microsoft.com/office/drawing/2014/main" id="{778E982E-6ED3-15DA-5B80-0E1AFB41CC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4A69AA-81F1-E55E-36D1-52AE06F9A682}"/>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1313682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BC9474-E7B6-17B7-6E8F-25FE8A59DE99}"/>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3" name="Footer Placeholder 2">
            <a:extLst>
              <a:ext uri="{FF2B5EF4-FFF2-40B4-BE49-F238E27FC236}">
                <a16:creationId xmlns:a16="http://schemas.microsoft.com/office/drawing/2014/main" id="{A246705E-6DE6-762B-C602-8C6EEC023D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8B7A0A3-7EF0-9375-4C30-72C3204E753E}"/>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152912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5885D-4EAB-B31A-076C-8FFAF8CF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28DCF9-9CD5-AC3C-AA70-1C34F6FB11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144DEF8-8603-AB5C-ABE1-85D1A61E86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25A21-FCED-7D34-D5B4-884E2AB1AF31}"/>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6" name="Footer Placeholder 5">
            <a:extLst>
              <a:ext uri="{FF2B5EF4-FFF2-40B4-BE49-F238E27FC236}">
                <a16:creationId xmlns:a16="http://schemas.microsoft.com/office/drawing/2014/main" id="{1664321F-F421-930D-FE7C-DDB227B3DA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D7957E-4C87-2210-D4A1-E45E8433ECDA}"/>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425973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84C1-9C14-8F48-29A2-040D74D1C9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DCFDF3-AC59-CF34-CB41-3C43AD61F7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5C681F-BB17-4955-5B77-A2A929433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37D334-1BE4-E822-58ED-135AEB9E4DDF}"/>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6" name="Footer Placeholder 5">
            <a:extLst>
              <a:ext uri="{FF2B5EF4-FFF2-40B4-BE49-F238E27FC236}">
                <a16:creationId xmlns:a16="http://schemas.microsoft.com/office/drawing/2014/main" id="{F4036065-7604-219C-5CFA-95C7C7DC3B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E687D6-1BEC-8BE4-7D1A-1C9CA57DE9AE}"/>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2663725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BD6A9-0DF8-9311-BD00-B0E72103AC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EDCE49-57E6-AEBA-D55B-60266EAB9B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52F1FC-9750-7088-9D78-8B39BECE520B}"/>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5" name="Footer Placeholder 4">
            <a:extLst>
              <a:ext uri="{FF2B5EF4-FFF2-40B4-BE49-F238E27FC236}">
                <a16:creationId xmlns:a16="http://schemas.microsoft.com/office/drawing/2014/main" id="{A159993C-12E4-EA7B-462F-0FC2C5FBB3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894241-A6CE-9709-82D6-C632490DE01F}"/>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558488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61377E-2E37-C319-B75D-B343B8759F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3C7777-CDF1-A4AD-47DD-5E975FEDF1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7F1710-B419-B7B4-228A-5A7122412D7F}"/>
              </a:ext>
            </a:extLst>
          </p:cNvPr>
          <p:cNvSpPr>
            <a:spLocks noGrp="1"/>
          </p:cNvSpPr>
          <p:nvPr>
            <p:ph type="dt" sz="half" idx="10"/>
          </p:nvPr>
        </p:nvSpPr>
        <p:spPr/>
        <p:txBody>
          <a:bodyPr/>
          <a:lstStyle/>
          <a:p>
            <a:fld id="{5AE492EF-C8F2-4E94-A8AD-D941EB9F2274}" type="datetimeFigureOut">
              <a:rPr lang="en-IN" smtClean="0"/>
              <a:t>03-03-2025</a:t>
            </a:fld>
            <a:endParaRPr lang="en-IN"/>
          </a:p>
        </p:txBody>
      </p:sp>
      <p:sp>
        <p:nvSpPr>
          <p:cNvPr id="5" name="Footer Placeholder 4">
            <a:extLst>
              <a:ext uri="{FF2B5EF4-FFF2-40B4-BE49-F238E27FC236}">
                <a16:creationId xmlns:a16="http://schemas.microsoft.com/office/drawing/2014/main" id="{80AF7D57-CFC6-C59B-E85B-FB85923D0D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A7469E-718F-6252-204E-9AD5F22DDE2D}"/>
              </a:ext>
            </a:extLst>
          </p:cNvPr>
          <p:cNvSpPr>
            <a:spLocks noGrp="1"/>
          </p:cNvSpPr>
          <p:nvPr>
            <p:ph type="sldNum" sz="quarter" idx="12"/>
          </p:nvPr>
        </p:nvSpPr>
        <p:spPr/>
        <p:txBody>
          <a:bodyPr/>
          <a:lstStyle/>
          <a:p>
            <a:fld id="{EB41AF8D-62D9-43A1-AE2F-A1235F8C7E48}" type="slidenum">
              <a:rPr lang="en-IN" smtClean="0"/>
              <a:t>‹#›</a:t>
            </a:fld>
            <a:endParaRPr lang="en-IN"/>
          </a:p>
        </p:txBody>
      </p:sp>
    </p:spTree>
    <p:extLst>
      <p:ext uri="{BB962C8B-B14F-4D97-AF65-F5344CB8AC3E}">
        <p14:creationId xmlns:p14="http://schemas.microsoft.com/office/powerpoint/2010/main" val="3759496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7BE614-9E31-972A-EF43-9B6916B8E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8E7100-3E7E-054B-7AC5-3159E50E28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138304-4C76-83ED-0DB4-8B892D4A4F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E492EF-C8F2-4E94-A8AD-D941EB9F2274}" type="datetimeFigureOut">
              <a:rPr lang="en-IN" smtClean="0"/>
              <a:t>03-03-2025</a:t>
            </a:fld>
            <a:endParaRPr lang="en-IN"/>
          </a:p>
        </p:txBody>
      </p:sp>
      <p:sp>
        <p:nvSpPr>
          <p:cNvPr id="5" name="Footer Placeholder 4">
            <a:extLst>
              <a:ext uri="{FF2B5EF4-FFF2-40B4-BE49-F238E27FC236}">
                <a16:creationId xmlns:a16="http://schemas.microsoft.com/office/drawing/2014/main" id="{49D9453D-710D-FDF2-C9E8-B890352389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D68CF1E-2ABF-4C4D-B1AA-FA9CB93F44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41AF8D-62D9-43A1-AE2F-A1235F8C7E48}" type="slidenum">
              <a:rPr lang="en-IN" smtClean="0"/>
              <a:t>‹#›</a:t>
            </a:fld>
            <a:endParaRPr lang="en-IN"/>
          </a:p>
        </p:txBody>
      </p:sp>
    </p:spTree>
    <p:extLst>
      <p:ext uri="{BB962C8B-B14F-4D97-AF65-F5344CB8AC3E}">
        <p14:creationId xmlns:p14="http://schemas.microsoft.com/office/powerpoint/2010/main" val="1728265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529F0-E7C0-2022-7793-40E62E7564E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7870314-FDD2-4774-2A7D-73364D7660D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76090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t>UNIT III</a:t>
            </a:r>
            <a:endParaRPr lang="en-IN" dirty="0"/>
          </a:p>
        </p:txBody>
      </p:sp>
      <p:sp>
        <p:nvSpPr>
          <p:cNvPr id="3" name="Subtitle 2"/>
          <p:cNvSpPr>
            <a:spLocks noGrp="1"/>
          </p:cNvSpPr>
          <p:nvPr>
            <p:ph type="subTitle" idx="1"/>
          </p:nvPr>
        </p:nvSpPr>
        <p:spPr/>
        <p:txBody>
          <a:bodyPr/>
          <a:lstStyle/>
          <a:p>
            <a:r>
              <a:rPr lang="en-IN" dirty="0"/>
              <a:t>ASSESSMENT TECHNIQUES IN EIA</a:t>
            </a:r>
          </a:p>
          <a:p>
            <a:r>
              <a:rPr lang="en-IN" dirty="0"/>
              <a:t>	(Prediction and Impact Assessment of various Environments)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9608" y="142852"/>
            <a:ext cx="7498080" cy="1143000"/>
          </a:xfrm>
        </p:spPr>
        <p:txBody>
          <a:bodyPr>
            <a:noAutofit/>
          </a:bodyPr>
          <a:lstStyle/>
          <a:p>
            <a:r>
              <a:rPr lang="en-IN" sz="3200" dirty="0"/>
              <a:t>LIST OF PROJECTS REQUIRING AN EIA</a:t>
            </a:r>
          </a:p>
        </p:txBody>
      </p:sp>
      <p:sp>
        <p:nvSpPr>
          <p:cNvPr id="3" name="Content Placeholder 2"/>
          <p:cNvSpPr>
            <a:spLocks noGrp="1"/>
          </p:cNvSpPr>
          <p:nvPr>
            <p:ph idx="1"/>
          </p:nvPr>
        </p:nvSpPr>
        <p:spPr>
          <a:xfrm>
            <a:off x="2959608" y="1357298"/>
            <a:ext cx="7708392" cy="4891102"/>
          </a:xfrm>
        </p:spPr>
        <p:txBody>
          <a:bodyPr>
            <a:normAutofit fontScale="62500" lnSpcReduction="20000"/>
          </a:bodyPr>
          <a:lstStyle/>
          <a:p>
            <a:r>
              <a:rPr lang="en-IN" dirty="0"/>
              <a:t>(A) Energy</a:t>
            </a:r>
          </a:p>
          <a:p>
            <a:pPr lvl="1"/>
            <a:r>
              <a:rPr lang="en-IN" dirty="0"/>
              <a:t>1. Hydroelectric power generation over 50 MW.</a:t>
            </a:r>
          </a:p>
          <a:p>
            <a:pPr lvl="1"/>
            <a:r>
              <a:rPr lang="en-IN" dirty="0"/>
              <a:t>2. Thermal power generation over 200 MW.</a:t>
            </a:r>
          </a:p>
          <a:p>
            <a:pPr lvl="1"/>
            <a:r>
              <a:rPr lang="en-IN" dirty="0"/>
              <a:t>3. Transmission lines (11 KV and above) and grid stations.</a:t>
            </a:r>
          </a:p>
          <a:p>
            <a:pPr lvl="1"/>
            <a:r>
              <a:rPr lang="en-IN" dirty="0"/>
              <a:t>4. Nuclear Power plants.</a:t>
            </a:r>
          </a:p>
          <a:p>
            <a:pPr lvl="1"/>
            <a:r>
              <a:rPr lang="en-IN" dirty="0"/>
              <a:t>5. Petroleum refineries.</a:t>
            </a:r>
          </a:p>
          <a:p>
            <a:r>
              <a:rPr lang="en-IN" dirty="0"/>
              <a:t>(B) Manufacturing and Processing</a:t>
            </a:r>
          </a:p>
          <a:p>
            <a:pPr lvl="1"/>
            <a:r>
              <a:rPr lang="en-IN" dirty="0"/>
              <a:t>1. Cement Plants.</a:t>
            </a:r>
          </a:p>
          <a:p>
            <a:pPr lvl="1"/>
            <a:r>
              <a:rPr lang="en-IN" dirty="0"/>
              <a:t>2. Chemicals projects.</a:t>
            </a:r>
          </a:p>
          <a:p>
            <a:pPr lvl="1"/>
            <a:r>
              <a:rPr lang="en-IN" dirty="0"/>
              <a:t>3. Fertilizers plants.</a:t>
            </a:r>
          </a:p>
          <a:p>
            <a:pPr lvl="1"/>
            <a:r>
              <a:rPr lang="en-IN" dirty="0"/>
              <a:t>4. Food processing industries including sugar mills, beverages, milk and dairy products with total cost of Rs. 100 Million and above.</a:t>
            </a:r>
          </a:p>
          <a:p>
            <a:pPr lvl="1"/>
            <a:r>
              <a:rPr lang="en-IN" dirty="0"/>
              <a:t>5. Industrial Estates (including export processing zones)</a:t>
            </a:r>
          </a:p>
          <a:p>
            <a:pPr lvl="1"/>
            <a:r>
              <a:rPr lang="en-IN" dirty="0"/>
              <a:t>6. Man-made </a:t>
            </a:r>
            <a:r>
              <a:rPr lang="en-IN" dirty="0" err="1"/>
              <a:t>fibers</a:t>
            </a:r>
            <a:r>
              <a:rPr lang="en-IN" dirty="0"/>
              <a:t> and resin projects with total cost of Rs. 100 Million and above.</a:t>
            </a:r>
          </a:p>
          <a:p>
            <a:pPr lvl="1"/>
            <a:r>
              <a:rPr lang="en-IN" dirty="0"/>
              <a:t>7. Pesticides (manufacture or formulation).</a:t>
            </a:r>
          </a:p>
          <a:p>
            <a:pPr lvl="1"/>
            <a:r>
              <a:rPr lang="en-IN" dirty="0"/>
              <a:t>8. Petrochemicals complex.</a:t>
            </a:r>
          </a:p>
          <a:p>
            <a:pPr lvl="1"/>
            <a:r>
              <a:rPr lang="en-IN" dirty="0"/>
              <a:t>9. Synthetic resins, plastic and man-made </a:t>
            </a:r>
            <a:r>
              <a:rPr lang="en-IN" dirty="0" err="1"/>
              <a:t>fibers</a:t>
            </a:r>
            <a:r>
              <a:rPr lang="en-IN" dirty="0"/>
              <a:t>, paper and paperboard, paper pulping, plastic products, textile (except apparel), printing and publishing, paints and dyes, oils and fats and vegetable ghee projects with a total cost more than Rs. 10 Million.</a:t>
            </a:r>
          </a:p>
          <a:p>
            <a:pPr lvl="1"/>
            <a:r>
              <a:rPr lang="en-IN" dirty="0"/>
              <a:t>10. Tanning and lather finishing projects.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2662" y="1500174"/>
            <a:ext cx="8358246" cy="4929222"/>
          </a:xfrm>
        </p:spPr>
        <p:txBody>
          <a:bodyPr>
            <a:normAutofit fontScale="70000" lnSpcReduction="20000"/>
          </a:bodyPr>
          <a:lstStyle/>
          <a:p>
            <a:r>
              <a:rPr lang="en-IN" dirty="0"/>
              <a:t>(C) Mining and Mineral Processing.</a:t>
            </a:r>
          </a:p>
          <a:p>
            <a:pPr lvl="1"/>
            <a:r>
              <a:rPr lang="en-IN" dirty="0"/>
              <a:t>1. Mining and processing of coal, gold, copper, sulphur and precious stones.</a:t>
            </a:r>
          </a:p>
          <a:p>
            <a:pPr lvl="1"/>
            <a:r>
              <a:rPr lang="en-IN" dirty="0"/>
              <a:t>2. Mining and processing of major non-ferrous metals, iron and steel rolling.</a:t>
            </a:r>
          </a:p>
          <a:p>
            <a:pPr lvl="1"/>
            <a:r>
              <a:rPr lang="en-IN" dirty="0"/>
              <a:t>3. Smelting plants with total cost of Rs. 50 Million and above.</a:t>
            </a:r>
          </a:p>
          <a:p>
            <a:r>
              <a:rPr lang="en-IN" dirty="0"/>
              <a:t>(D)Transport</a:t>
            </a:r>
          </a:p>
          <a:p>
            <a:pPr lvl="1"/>
            <a:r>
              <a:rPr lang="en-IN" dirty="0"/>
              <a:t>1. Airports.</a:t>
            </a:r>
          </a:p>
          <a:p>
            <a:pPr lvl="1"/>
            <a:r>
              <a:rPr lang="en-IN" dirty="0"/>
              <a:t>2. Federal or provincial highways (except maintenance, rebuilding or reconstruction of existing roads) with total cost of Rs.50 million and above.</a:t>
            </a:r>
          </a:p>
          <a:p>
            <a:pPr lvl="1"/>
            <a:r>
              <a:rPr lang="en-IN" dirty="0"/>
              <a:t>3. Ports and </a:t>
            </a:r>
            <a:r>
              <a:rPr lang="en-IN" dirty="0" err="1"/>
              <a:t>harbors</a:t>
            </a:r>
            <a:r>
              <a:rPr lang="en-IN" dirty="0"/>
              <a:t> development for ships 500 gross tons and above.</a:t>
            </a:r>
          </a:p>
          <a:p>
            <a:pPr lvl="1"/>
            <a:r>
              <a:rPr lang="en-IN" dirty="0"/>
              <a:t>4. Railway works.</a:t>
            </a:r>
          </a:p>
          <a:p>
            <a:r>
              <a:rPr lang="en-IN" dirty="0"/>
              <a:t>(E)Water Management, Dams, Irrigation and Flood Protection..</a:t>
            </a:r>
          </a:p>
          <a:p>
            <a:pPr lvl="1"/>
            <a:r>
              <a:rPr lang="en-IN" dirty="0"/>
              <a:t>1. Dams and reservoirs with storage volume 50 million cubic meters and above or surface area of 08 square </a:t>
            </a:r>
            <a:r>
              <a:rPr lang="en-IN" dirty="0" err="1"/>
              <a:t>kilometers</a:t>
            </a:r>
            <a:r>
              <a:rPr lang="en-IN" dirty="0"/>
              <a:t> and above.</a:t>
            </a:r>
          </a:p>
          <a:p>
            <a:pPr lvl="1"/>
            <a:r>
              <a:rPr lang="en-IN" dirty="0"/>
              <a:t>2. Irrigation and drainage projects serving 15,000 hectares and above.</a:t>
            </a:r>
          </a:p>
          <a:p>
            <a:r>
              <a:rPr lang="en-IN" dirty="0"/>
              <a:t>(F)Water supply schemes and treatment.</a:t>
            </a:r>
          </a:p>
          <a:p>
            <a:pPr lvl="1"/>
            <a:r>
              <a:rPr lang="en-IN" dirty="0"/>
              <a:t>Water supply schemes and treatment plants with total cost of Rs. 25 million and above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Rules and Legislation</a:t>
            </a:r>
          </a:p>
        </p:txBody>
      </p:sp>
      <p:sp>
        <p:nvSpPr>
          <p:cNvPr id="3" name="Content Placeholder 2"/>
          <p:cNvSpPr>
            <a:spLocks noGrp="1"/>
          </p:cNvSpPr>
          <p:nvPr>
            <p:ph idx="1"/>
          </p:nvPr>
        </p:nvSpPr>
        <p:spPr/>
        <p:txBody>
          <a:bodyPr/>
          <a:lstStyle/>
          <a:p>
            <a:r>
              <a:rPr lang="en-US" b="1" dirty="0"/>
              <a:t>Water</a:t>
            </a:r>
            <a:endParaRPr lang="en-IN" dirty="0"/>
          </a:p>
          <a:p>
            <a:pPr lvl="1"/>
            <a:r>
              <a:rPr lang="en-US" dirty="0"/>
              <a:t>The water (prevention and control of pollution) Act, 1974</a:t>
            </a:r>
            <a:endParaRPr lang="en-IN" dirty="0"/>
          </a:p>
          <a:p>
            <a:pPr lvl="1"/>
            <a:r>
              <a:rPr lang="en-US" dirty="0"/>
              <a:t>The water (prevention and control of pollution) Rules, 1975</a:t>
            </a:r>
            <a:endParaRPr lang="en-IN" dirty="0"/>
          </a:p>
          <a:p>
            <a:r>
              <a:rPr lang="en-IN" dirty="0"/>
              <a:t>BIS Standards</a:t>
            </a:r>
          </a:p>
          <a:p>
            <a:pPr lvl="1"/>
            <a:r>
              <a:rPr lang="en-IN" dirty="0"/>
              <a:t>IS: 10500:2012. Bureau of Indian Standards, New Delhi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Hydrological Cycle</a:t>
            </a:r>
          </a:p>
        </p:txBody>
      </p:sp>
      <p:sp>
        <p:nvSpPr>
          <p:cNvPr id="3" name="Content Placeholder 2"/>
          <p:cNvSpPr>
            <a:spLocks noGrp="1"/>
          </p:cNvSpPr>
          <p:nvPr>
            <p:ph idx="1"/>
          </p:nvPr>
        </p:nvSpPr>
        <p:spPr/>
        <p:txBody>
          <a:bodyPr/>
          <a:lstStyle/>
          <a:p>
            <a:endParaRPr lang="en-IN"/>
          </a:p>
        </p:txBody>
      </p:sp>
      <p:pic>
        <p:nvPicPr>
          <p:cNvPr id="13314" name="Picture 2" descr="Image result for hydrologcal cycle"/>
          <p:cNvPicPr>
            <a:picLocks noChangeAspect="1" noChangeArrowheads="1"/>
          </p:cNvPicPr>
          <p:nvPr/>
        </p:nvPicPr>
        <p:blipFill>
          <a:blip r:embed="rId2"/>
          <a:srcRect l="3233" t="10830"/>
          <a:stretch>
            <a:fillRect/>
          </a:stretch>
        </p:blipFill>
        <p:spPr bwMode="auto">
          <a:xfrm>
            <a:off x="2881290" y="1857365"/>
            <a:ext cx="6415086" cy="4705347"/>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38916" name="Picture 4" descr="Related image"/>
          <p:cNvPicPr>
            <a:picLocks noChangeAspect="1" noChangeArrowheads="1"/>
          </p:cNvPicPr>
          <p:nvPr/>
        </p:nvPicPr>
        <p:blipFill>
          <a:blip r:embed="rId2"/>
          <a:srcRect/>
          <a:stretch>
            <a:fillRect/>
          </a:stretch>
        </p:blipFill>
        <p:spPr bwMode="auto">
          <a:xfrm>
            <a:off x="2452662" y="1000109"/>
            <a:ext cx="7181850" cy="5276851"/>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39938" name="Picture 2" descr="Related image"/>
          <p:cNvPicPr>
            <a:picLocks noChangeAspect="1" noChangeArrowheads="1"/>
          </p:cNvPicPr>
          <p:nvPr/>
        </p:nvPicPr>
        <p:blipFill>
          <a:blip r:embed="rId2"/>
          <a:srcRect t="13253"/>
          <a:stretch>
            <a:fillRect/>
          </a:stretch>
        </p:blipFill>
        <p:spPr bwMode="auto">
          <a:xfrm>
            <a:off x="2595538" y="785794"/>
            <a:ext cx="6746774" cy="514353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0962" name="Picture 2" descr="Related image"/>
          <p:cNvPicPr>
            <a:picLocks noChangeAspect="1" noChangeArrowheads="1"/>
          </p:cNvPicPr>
          <p:nvPr/>
        </p:nvPicPr>
        <p:blipFill>
          <a:blip r:embed="rId2"/>
          <a:srcRect/>
          <a:stretch>
            <a:fillRect/>
          </a:stretch>
        </p:blipFill>
        <p:spPr bwMode="auto">
          <a:xfrm>
            <a:off x="1738282" y="1785926"/>
            <a:ext cx="8645206" cy="3643338"/>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srcRect/>
          <a:stretch>
            <a:fillRect/>
          </a:stretch>
        </p:blipFill>
        <p:spPr bwMode="auto">
          <a:xfrm>
            <a:off x="2809852" y="0"/>
            <a:ext cx="6031893" cy="68580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t>Projects Which Create Impact Concerns for the Surface-Water Environment</a:t>
            </a:r>
            <a:endParaRPr lang="en-IN" sz="3600" dirty="0"/>
          </a:p>
        </p:txBody>
      </p:sp>
      <p:sp>
        <p:nvSpPr>
          <p:cNvPr id="3" name="Content Placeholder 2"/>
          <p:cNvSpPr>
            <a:spLocks noGrp="1"/>
          </p:cNvSpPr>
          <p:nvPr>
            <p:ph idx="1"/>
          </p:nvPr>
        </p:nvSpPr>
        <p:spPr>
          <a:xfrm>
            <a:off x="1981200" y="1935480"/>
            <a:ext cx="8229600" cy="4779668"/>
          </a:xfrm>
        </p:spPr>
        <p:txBody>
          <a:bodyPr>
            <a:normAutofit fontScale="55000" lnSpcReduction="20000"/>
          </a:bodyPr>
          <a:lstStyle/>
          <a:p>
            <a:r>
              <a:rPr lang="en-IN" b="1" dirty="0"/>
              <a:t>Industrial power plants withdrawing surface water for cooling </a:t>
            </a:r>
            <a:r>
              <a:rPr lang="en-IN" dirty="0"/>
              <a:t>(this may be of particular concern during low- flow conditions).</a:t>
            </a:r>
          </a:p>
          <a:p>
            <a:r>
              <a:rPr lang="en-IN" b="1" dirty="0"/>
              <a:t>Power plants discharging heated waste water from cooling cycles</a:t>
            </a:r>
          </a:p>
          <a:p>
            <a:r>
              <a:rPr lang="en-IN" b="1" dirty="0"/>
              <a:t>Industries discharging process waste waters </a:t>
            </a:r>
            <a:r>
              <a:rPr lang="en-IN" dirty="0"/>
              <a:t>from either routine operations or as a result of accidents and spills.</a:t>
            </a:r>
          </a:p>
          <a:p>
            <a:r>
              <a:rPr lang="en-IN" b="1" dirty="0"/>
              <a:t>Municipal waste water treatment plants </a:t>
            </a:r>
            <a:r>
              <a:rPr lang="en-IN" dirty="0"/>
              <a:t>discharging primary, secondary or treated waste waters.</a:t>
            </a:r>
          </a:p>
          <a:p>
            <a:r>
              <a:rPr lang="en-IN" b="1" dirty="0"/>
              <a:t>Dredging projects in rivers, </a:t>
            </a:r>
            <a:r>
              <a:rPr lang="en-IN" b="1" dirty="0" err="1"/>
              <a:t>harbors</a:t>
            </a:r>
            <a:r>
              <a:rPr lang="en-IN" b="1" dirty="0"/>
              <a:t>, estuaries and or coastal area </a:t>
            </a:r>
            <a:r>
              <a:rPr lang="en-IN" dirty="0"/>
              <a:t>(increased turbidity and release of sediment contaminants may occur)</a:t>
            </a:r>
          </a:p>
          <a:p>
            <a:r>
              <a:rPr lang="en-IN" b="1" dirty="0"/>
              <a:t>Projects involving "fill" or creation of "fast lands" along rivers, lakes. estuaries and coastal area.</a:t>
            </a:r>
          </a:p>
          <a:p>
            <a:r>
              <a:rPr lang="en-IN" b="1" dirty="0"/>
              <a:t>Surface mining projects </a:t>
            </a:r>
            <a:r>
              <a:rPr lang="en-IN" dirty="0"/>
              <a:t>with resultant changes in surface water hydrology and nonpoint pollution.</a:t>
            </a:r>
          </a:p>
          <a:p>
            <a:r>
              <a:rPr lang="en-IN" b="1" dirty="0"/>
              <a:t>Construction of dams </a:t>
            </a:r>
            <a:r>
              <a:rPr lang="en-IN" dirty="0"/>
              <a:t>for purposes of water supply. flood control or hydropower production.</a:t>
            </a:r>
          </a:p>
          <a:p>
            <a:r>
              <a:rPr lang="en-IN" b="1" dirty="0"/>
              <a:t>River canalization projects </a:t>
            </a:r>
            <a:r>
              <a:rPr lang="en-IN" dirty="0"/>
              <a:t>for flow improvements</a:t>
            </a:r>
          </a:p>
          <a:p>
            <a:r>
              <a:rPr lang="en-IN" b="1" dirty="0"/>
              <a:t>Deforestation and agricultural development</a:t>
            </a:r>
            <a:endParaRPr lang="en-IN" dirty="0"/>
          </a:p>
          <a:p>
            <a:r>
              <a:rPr lang="en-IN" b="1" dirty="0"/>
              <a:t>Commercial hazardous waste disposal sites and/or sanitary landfills</a:t>
            </a:r>
            <a:r>
              <a:rPr lang="en-IN" dirty="0"/>
              <a:t>, with resultant run-off water and non-point-source pollution; and</a:t>
            </a:r>
          </a:p>
          <a:p>
            <a:r>
              <a:rPr lang="en-IN" b="1" dirty="0"/>
              <a:t>Tourism projects adjacent to estuaries or coastal area </a:t>
            </a:r>
            <a:r>
              <a:rPr lang="en-IN" dirty="0"/>
              <a:t>with concerns related to bacterial pollution.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b="1" dirty="0"/>
              <a:t>The environmental effects on surface water are given below.</a:t>
            </a:r>
          </a:p>
        </p:txBody>
      </p:sp>
      <p:sp>
        <p:nvSpPr>
          <p:cNvPr id="3" name="Content Placeholder 2"/>
          <p:cNvSpPr>
            <a:spLocks noGrp="1"/>
          </p:cNvSpPr>
          <p:nvPr>
            <p:ph idx="1"/>
          </p:nvPr>
        </p:nvSpPr>
        <p:spPr/>
        <p:txBody>
          <a:bodyPr>
            <a:normAutofit/>
          </a:bodyPr>
          <a:lstStyle/>
          <a:p>
            <a:pPr lvl="1"/>
            <a:r>
              <a:rPr lang="en-IN" dirty="0"/>
              <a:t>Shoreline</a:t>
            </a:r>
          </a:p>
          <a:p>
            <a:pPr lvl="1"/>
            <a:r>
              <a:rPr lang="en-IN" dirty="0"/>
              <a:t>Bottom interface </a:t>
            </a:r>
          </a:p>
          <a:p>
            <a:pPr lvl="1"/>
            <a:r>
              <a:rPr lang="en-IN" dirty="0"/>
              <a:t>Flow</a:t>
            </a:r>
          </a:p>
          <a:p>
            <a:pPr lvl="1"/>
            <a:r>
              <a:rPr lang="en-IN" dirty="0"/>
              <a:t>Water quality</a:t>
            </a:r>
          </a:p>
          <a:p>
            <a:pPr lvl="1"/>
            <a:r>
              <a:rPr lang="en-IN" dirty="0"/>
              <a:t>Drainage pattern</a:t>
            </a:r>
          </a:p>
          <a:p>
            <a:pPr lvl="1"/>
            <a:r>
              <a:rPr lang="en-IN" dirty="0"/>
              <a:t>Water balance</a:t>
            </a:r>
          </a:p>
          <a:p>
            <a:pPr lvl="1"/>
            <a:r>
              <a:rPr lang="en-IN" dirty="0"/>
              <a:t>Flooding</a:t>
            </a:r>
          </a:p>
          <a:p>
            <a:pPr lvl="1"/>
            <a:r>
              <a:rPr lang="en-IN" dirty="0"/>
              <a:t>Existing Use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i="1" dirty="0"/>
              <a:t>Impacts on surface waters are usually caused by: </a:t>
            </a:r>
            <a:endParaRPr lang="en-IN" sz="2400" dirty="0"/>
          </a:p>
          <a:p>
            <a:pPr lvl="1"/>
            <a:r>
              <a:rPr lang="en-US" b="1" dirty="0"/>
              <a:t>Physical disturbances </a:t>
            </a:r>
            <a:r>
              <a:rPr lang="en-US" dirty="0"/>
              <a:t>(for example, the construction of banks, dams, dikes, and other natural or manmade drainage systems) </a:t>
            </a:r>
            <a:endParaRPr lang="en-IN" sz="2000" dirty="0"/>
          </a:p>
          <a:p>
            <a:pPr lvl="1"/>
            <a:r>
              <a:rPr lang="en-US" b="1" dirty="0"/>
              <a:t>Changes in climatic conditions</a:t>
            </a:r>
            <a:endParaRPr lang="en-IN" sz="2000" dirty="0"/>
          </a:p>
          <a:p>
            <a:pPr lvl="1"/>
            <a:r>
              <a:rPr lang="en-US" b="1" dirty="0"/>
              <a:t>The addition or removal of substances, heat, or microorganisms </a:t>
            </a:r>
            <a:r>
              <a:rPr lang="en-US" dirty="0"/>
              <a:t>(for example, the discharge of effluents and deposition of air pollutants into water).</a:t>
            </a:r>
            <a:endParaRPr lang="en-IN" sz="2000" dirty="0"/>
          </a:p>
          <a:p>
            <a:r>
              <a:rPr lang="en-US" i="1" dirty="0"/>
              <a:t>These activities and processes lead to effects which is evident by </a:t>
            </a:r>
            <a:endParaRPr lang="en-IN" sz="2400" dirty="0"/>
          </a:p>
          <a:p>
            <a:pPr lvl="1"/>
            <a:r>
              <a:rPr lang="en-US" b="1" dirty="0"/>
              <a:t>Changes in surface water hydrology</a:t>
            </a:r>
            <a:endParaRPr lang="en-IN" sz="2000" dirty="0"/>
          </a:p>
          <a:p>
            <a:pPr lvl="1"/>
            <a:r>
              <a:rPr lang="en-US" b="1" dirty="0"/>
              <a:t>Changes in surface water quality</a:t>
            </a:r>
            <a:r>
              <a:rPr lang="en-US" dirty="0"/>
              <a:t>, and </a:t>
            </a:r>
            <a:endParaRPr lang="en-IN" sz="2000" dirty="0"/>
          </a:p>
          <a:p>
            <a:pPr lvl="1"/>
            <a:r>
              <a:rPr lang="en-US" dirty="0"/>
              <a:t>Consequently to higher order effects that are reflected </a:t>
            </a:r>
            <a:r>
              <a:rPr lang="en-US" b="1" dirty="0"/>
              <a:t>by changes in sediment behavior, changes in salinity, and changes in aquatic ecology</a:t>
            </a:r>
            <a:r>
              <a:rPr lang="en-US" dirty="0"/>
              <a:t>.</a:t>
            </a:r>
            <a:endParaRPr lang="en-IN" sz="2000" dirty="0"/>
          </a:p>
          <a:p>
            <a:endParaRPr lang="en-IN" dirty="0"/>
          </a:p>
        </p:txBody>
      </p:sp>
    </p:spTree>
    <p:extLst>
      <p:ext uri="{BB962C8B-B14F-4D97-AF65-F5344CB8AC3E}">
        <p14:creationId xmlns:p14="http://schemas.microsoft.com/office/powerpoint/2010/main" val="865809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85794"/>
            <a:ext cx="8229600" cy="5857916"/>
          </a:xfrm>
        </p:spPr>
        <p:txBody>
          <a:bodyPr>
            <a:normAutofit fontScale="77500" lnSpcReduction="20000"/>
          </a:bodyPr>
          <a:lstStyle/>
          <a:p>
            <a:r>
              <a:rPr lang="en-US" i="1" dirty="0"/>
              <a:t>List of various developmental activities which cause significant impacts on surface water resources for which a detailed EIA is required:</a:t>
            </a:r>
            <a:endParaRPr lang="en-IN" sz="2400" dirty="0"/>
          </a:p>
          <a:p>
            <a:pPr lvl="1"/>
            <a:r>
              <a:rPr lang="en-US" i="1" dirty="0"/>
              <a:t>Industrial power plants withdrawing surface water for cooling</a:t>
            </a:r>
            <a:endParaRPr lang="en-IN" sz="2000" dirty="0"/>
          </a:p>
          <a:p>
            <a:pPr lvl="1"/>
            <a:r>
              <a:rPr lang="en-US" i="1" dirty="0"/>
              <a:t>Power plants discharging heated waste water from cooling cycles</a:t>
            </a:r>
            <a:endParaRPr lang="en-IN" sz="2000" dirty="0"/>
          </a:p>
          <a:p>
            <a:pPr lvl="1"/>
            <a:r>
              <a:rPr lang="en-US" i="1" dirty="0"/>
              <a:t>Industries discharging waste waters from either routine operations or as a result of accidents and spills.</a:t>
            </a:r>
            <a:endParaRPr lang="en-IN" sz="2000" dirty="0"/>
          </a:p>
          <a:p>
            <a:pPr lvl="1"/>
            <a:r>
              <a:rPr lang="en-US" i="1" dirty="0"/>
              <a:t>Municipal waste water treatment plants discharging primary, secondary or treated waste waters.</a:t>
            </a:r>
            <a:endParaRPr lang="en-IN" sz="2000" dirty="0"/>
          </a:p>
          <a:p>
            <a:pPr lvl="1"/>
            <a:r>
              <a:rPr lang="en-US" i="1" dirty="0"/>
              <a:t>Dredging projects in rivers, harbors, estuaries and or coastal area</a:t>
            </a:r>
            <a:endParaRPr lang="en-IN" sz="2000" dirty="0"/>
          </a:p>
          <a:p>
            <a:pPr lvl="1"/>
            <a:r>
              <a:rPr lang="en-US" i="1" dirty="0"/>
              <a:t>Projects involving "fill" or creation of "fast lands" along rivers, lakes. estuaries and coastal area.</a:t>
            </a:r>
            <a:endParaRPr lang="en-IN" sz="2000" dirty="0"/>
          </a:p>
          <a:p>
            <a:pPr lvl="1"/>
            <a:r>
              <a:rPr lang="en-US" i="1" dirty="0"/>
              <a:t>Surface mining projects with resultant changes in surface water hydrology and nonpoint pollution.</a:t>
            </a:r>
            <a:endParaRPr lang="en-IN" sz="2000" dirty="0"/>
          </a:p>
          <a:p>
            <a:pPr lvl="1"/>
            <a:r>
              <a:rPr lang="en-US" i="1" dirty="0"/>
              <a:t>Construction of dams for purposes of water supply. flood control or hydropower production.</a:t>
            </a:r>
            <a:endParaRPr lang="en-IN" sz="2000" dirty="0"/>
          </a:p>
          <a:p>
            <a:pPr lvl="1"/>
            <a:r>
              <a:rPr lang="en-US" i="1" dirty="0"/>
              <a:t>River canalization projects for flow improvements</a:t>
            </a:r>
            <a:endParaRPr lang="en-IN" sz="2000" dirty="0"/>
          </a:p>
          <a:p>
            <a:pPr lvl="1"/>
            <a:r>
              <a:rPr lang="en-US" i="1" dirty="0"/>
              <a:t>Deforestation and agricultural development resulting in non-point source pollution associated with nutrients and pesticides and irrigation projects, leading to turn flows laden with nutrients and pesticides.</a:t>
            </a:r>
            <a:endParaRPr lang="en-IN" sz="2000" dirty="0"/>
          </a:p>
          <a:p>
            <a:pPr lvl="1"/>
            <a:r>
              <a:rPr lang="en-US" i="1" dirty="0"/>
              <a:t>Commercial hazardous waste disposal sites and/or sanitary landfills, with resultant run-off water and non-point-source pollution; and</a:t>
            </a:r>
            <a:endParaRPr lang="en-IN" sz="2000" dirty="0"/>
          </a:p>
          <a:p>
            <a:pPr lvl="1"/>
            <a:r>
              <a:rPr lang="en-US" i="1" dirty="0"/>
              <a:t>Tourism projects adjacent to estuaries or coastal area with concerns related to bacterial pollution</a:t>
            </a:r>
            <a:endParaRPr lang="en-IN" sz="2000" dirty="0"/>
          </a:p>
          <a:p>
            <a:endParaRPr lang="en-IN" dirty="0"/>
          </a:p>
        </p:txBody>
      </p:sp>
    </p:spTree>
    <p:extLst>
      <p:ext uri="{BB962C8B-B14F-4D97-AF65-F5344CB8AC3E}">
        <p14:creationId xmlns:p14="http://schemas.microsoft.com/office/powerpoint/2010/main" val="731091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b="1" dirty="0"/>
              <a:t>Identification of Surface Water Quantity or Quality Impacts of Proposed Projects</a:t>
            </a:r>
            <a:endParaRPr lang="en-IN" dirty="0"/>
          </a:p>
          <a:p>
            <a:pPr lvl="1"/>
            <a:r>
              <a:rPr lang="en-US" dirty="0"/>
              <a:t>The focus of this step is on identifying potential impacts of the project. </a:t>
            </a:r>
            <a:endParaRPr lang="en-IN" dirty="0"/>
          </a:p>
          <a:p>
            <a:pPr lvl="1"/>
            <a:r>
              <a:rPr lang="en-US" dirty="0"/>
              <a:t>This early qualitative identification of anticipated impacts can help in refining subsequent steps.</a:t>
            </a:r>
            <a:endParaRPr lang="en-IN" dirty="0"/>
          </a:p>
          <a:p>
            <a:pPr lvl="1"/>
            <a:r>
              <a:rPr lang="en-US" dirty="0"/>
              <a:t>The first activity is to determine the features of the proposed project, the need for the project, and the potential alternatives</a:t>
            </a:r>
            <a:endParaRPr lang="en-IN" dirty="0"/>
          </a:p>
          <a:p>
            <a:pPr lvl="1"/>
            <a:r>
              <a:rPr lang="en-US" dirty="0"/>
              <a:t>The key information relative to the proposed project includes such items as</a:t>
            </a:r>
            <a:endParaRPr lang="en-IN" dirty="0"/>
          </a:p>
          <a:p>
            <a:pPr lvl="2"/>
            <a:r>
              <a:rPr lang="en-US" sz="2400" dirty="0"/>
              <a:t>The type of project and how it functions or operates in a technical context, particularly with regard to water usage and waste water generation, or the creation of changes in water quality or quantity,</a:t>
            </a:r>
            <a:endParaRPr lang="en-IN" sz="2400" dirty="0"/>
          </a:p>
          <a:p>
            <a:pPr lvl="2"/>
            <a:r>
              <a:rPr lang="en-US" sz="2400" dirty="0"/>
              <a:t>The proposed location of the project,</a:t>
            </a:r>
            <a:endParaRPr lang="en-IN" sz="2400" dirty="0"/>
          </a:p>
          <a:p>
            <a:pPr lvl="2"/>
            <a:r>
              <a:rPr lang="en-US" sz="2400" dirty="0"/>
              <a:t>The time period required for project construction, </a:t>
            </a:r>
            <a:endParaRPr lang="en-IN" sz="2400" dirty="0"/>
          </a:p>
          <a:p>
            <a:pPr lvl="2"/>
            <a:r>
              <a:rPr lang="en-US" sz="2400" dirty="0"/>
              <a:t>The potential environmental outputs from the project during its operational phase, including information relative to water usage and water pollutant emissions, and waste-generation and disposal needs.</a:t>
            </a:r>
            <a:endParaRPr lang="en-IN" sz="2400" dirty="0"/>
          </a:p>
          <a:p>
            <a:pPr lvl="2"/>
            <a:r>
              <a:rPr lang="en-US" sz="2400" dirty="0"/>
              <a:t>The identified need for the proposed project in the particular location (could be related to flood control, industrial development, economic development and many other requirements), and</a:t>
            </a:r>
            <a:endParaRPr lang="en-IN" sz="2400" dirty="0"/>
          </a:p>
          <a:p>
            <a:pPr lvl="1"/>
            <a:r>
              <a:rPr lang="en-US" dirty="0"/>
              <a:t>Any alternatives which have been considered, with generic alternatives for factors including site location, project size, project design features and pollution control measures, and project timing relative to construction and operational phases </a:t>
            </a:r>
            <a:endParaRPr lang="en-IN" dirty="0"/>
          </a:p>
        </p:txBody>
      </p:sp>
    </p:spTree>
    <p:extLst>
      <p:ext uri="{BB962C8B-B14F-4D97-AF65-F5344CB8AC3E}">
        <p14:creationId xmlns:p14="http://schemas.microsoft.com/office/powerpoint/2010/main" val="1772941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b="1" dirty="0"/>
              <a:t>Description of Existing Surface - Water Resource Conditions</a:t>
            </a:r>
            <a:endParaRPr lang="en-IN" dirty="0"/>
          </a:p>
          <a:p>
            <a:pPr lvl="1"/>
            <a:r>
              <a:rPr lang="en-US" dirty="0"/>
              <a:t>involves describing existing (background) conditions of the surface water resource(s) potentially impacted by the project</a:t>
            </a:r>
            <a:endParaRPr lang="en-IN" dirty="0"/>
          </a:p>
          <a:p>
            <a:pPr lvl="1"/>
            <a:r>
              <a:rPr lang="en-US" dirty="0"/>
              <a:t>Compilation of Water Quantity - Quality Information</a:t>
            </a:r>
            <a:endParaRPr lang="en-IN" dirty="0"/>
          </a:p>
          <a:p>
            <a:pPr lvl="2"/>
            <a:r>
              <a:rPr lang="en-US" sz="2400" dirty="0"/>
              <a:t>Information should be assembled on both the quantity (flow variations) and quality of the surface water in the river reach of concern, and potentially in relevant downstream</a:t>
            </a:r>
            <a:endParaRPr lang="en-IN" sz="2400" dirty="0"/>
          </a:p>
          <a:p>
            <a:r>
              <a:rPr lang="en-US" dirty="0"/>
              <a:t> </a:t>
            </a:r>
            <a:endParaRPr lang="en-IN" dirty="0"/>
          </a:p>
          <a:p>
            <a:r>
              <a:rPr lang="en-US" b="1" dirty="0"/>
              <a:t>Procurement of relevant surface-water Quantity/Quality standards</a:t>
            </a:r>
            <a:endParaRPr lang="en-IN" dirty="0"/>
          </a:p>
          <a:p>
            <a:pPr lvl="1"/>
            <a:r>
              <a:rPr lang="en-US" dirty="0"/>
              <a:t>To determine the severity of the impact that may result from a project, it is necessary to make use of institutional measures for determining the impact significance</a:t>
            </a:r>
            <a:endParaRPr lang="en-IN" dirty="0"/>
          </a:p>
          <a:p>
            <a:pPr lvl="1"/>
            <a:r>
              <a:rPr lang="en-US" dirty="0"/>
              <a:t>Surface-water quantity and quality standards, regulations, or policies are examples of these measures.</a:t>
            </a:r>
            <a:endParaRPr lang="en-IN" dirty="0"/>
          </a:p>
          <a:p>
            <a:pPr lvl="1"/>
            <a:r>
              <a:rPr lang="en-US" dirty="0"/>
              <a:t>Thus determination of the specific requirements for a given surface water will require contacting governing agencies in one or several regions.</a:t>
            </a:r>
            <a:endParaRPr lang="en-IN" dirty="0"/>
          </a:p>
          <a:p>
            <a:pPr lvl="1"/>
            <a:r>
              <a:rPr lang="en-US" dirty="0"/>
              <a:t>The standards designated by Central Pollution Control Boards CCPCB) will be based on the use or uses to be made of the water and set criteria necessary to protect the water resources and environment</a:t>
            </a:r>
            <a:endParaRPr lang="en-IN" dirty="0"/>
          </a:p>
          <a:p>
            <a:pPr lvl="2"/>
            <a:r>
              <a:rPr lang="en-US" sz="2400" dirty="0"/>
              <a:t>Water quality standards and water-use restrictions are related to low-flow periods in the' river system. For example, dissolved oxygen (DO) minima may be applicable during the 7-day, 10-yr low-flow conditions.</a:t>
            </a:r>
            <a:endParaRPr lang="en-IN" sz="2400" dirty="0"/>
          </a:p>
          <a:p>
            <a:endParaRPr lang="en-IN" dirty="0"/>
          </a:p>
        </p:txBody>
      </p:sp>
    </p:spTree>
    <p:extLst>
      <p:ext uri="{BB962C8B-B14F-4D97-AF65-F5344CB8AC3E}">
        <p14:creationId xmlns:p14="http://schemas.microsoft.com/office/powerpoint/2010/main" val="1111021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28670"/>
            <a:ext cx="8229600" cy="5715040"/>
          </a:xfrm>
        </p:spPr>
        <p:txBody>
          <a:bodyPr>
            <a:normAutofit fontScale="62500" lnSpcReduction="20000"/>
          </a:bodyPr>
          <a:lstStyle/>
          <a:p>
            <a:r>
              <a:rPr lang="en-US" b="1" dirty="0"/>
              <a:t>Impact prediction</a:t>
            </a:r>
            <a:endParaRPr lang="en-IN" dirty="0"/>
          </a:p>
          <a:p>
            <a:pPr lvl="1"/>
            <a:r>
              <a:rPr lang="en-US" dirty="0"/>
              <a:t>“Impact prediction” refers to the quantification (or, at least, the qualitative description), of the anticipated impacts of the proposed project on various surface water environment factors </a:t>
            </a:r>
            <a:endParaRPr lang="en-IN" dirty="0"/>
          </a:p>
          <a:p>
            <a:pPr lvl="1"/>
            <a:r>
              <a:rPr lang="en-US" dirty="0"/>
              <a:t>Because of the complex and dynamic nature of hydrological systems accurate prediction of impacts is often difficult and there are bound to be some </a:t>
            </a:r>
            <a:r>
              <a:rPr lang="en-US" dirty="0" err="1"/>
              <a:t>uncertainities</a:t>
            </a:r>
            <a:r>
              <a:rPr lang="en-US" dirty="0"/>
              <a:t> which have to be recorded in the EIS </a:t>
            </a:r>
            <a:endParaRPr lang="en-IN" dirty="0"/>
          </a:p>
          <a:p>
            <a:pPr lvl="1"/>
            <a:r>
              <a:rPr lang="en-US" dirty="0"/>
              <a:t>The following considerations may be relevant to the prediction of surface water quantity/ quality impacts</a:t>
            </a:r>
            <a:endParaRPr lang="en-IN" dirty="0"/>
          </a:p>
          <a:p>
            <a:pPr lvl="2"/>
            <a:r>
              <a:rPr lang="en-US" sz="2400" dirty="0"/>
              <a:t>Frequency distribution of decreased quality and quantity;</a:t>
            </a:r>
            <a:endParaRPr lang="en-IN" sz="2400" dirty="0"/>
          </a:p>
          <a:p>
            <a:pPr lvl="2"/>
            <a:r>
              <a:rPr lang="en-US" sz="2400" dirty="0"/>
              <a:t>Effects of sedimentation on the stream-bottom ecosystem;</a:t>
            </a:r>
            <a:endParaRPr lang="en-IN" sz="2400" dirty="0"/>
          </a:p>
          <a:p>
            <a:pPr lvl="2"/>
            <a:r>
              <a:rPr lang="en-US" sz="2400" dirty="0"/>
              <a:t>Fate of nutrients by incorporation into biomass;</a:t>
            </a:r>
            <a:endParaRPr lang="en-IN" sz="2400" dirty="0"/>
          </a:p>
          <a:p>
            <a:pPr lvl="2"/>
            <a:r>
              <a:rPr lang="en-US" sz="2400" dirty="0" err="1"/>
              <a:t>Reconcentration</a:t>
            </a:r>
            <a:r>
              <a:rPr lang="en-US" sz="2400" dirty="0"/>
              <a:t> of metals, pesticides, or </a:t>
            </a:r>
            <a:r>
              <a:rPr lang="en-US" sz="2400" dirty="0" err="1"/>
              <a:t>radionuclides</a:t>
            </a:r>
            <a:r>
              <a:rPr lang="en-US" sz="2400" dirty="0"/>
              <a:t> into the food web;</a:t>
            </a:r>
            <a:endParaRPr lang="en-IN" sz="2400" dirty="0"/>
          </a:p>
          <a:p>
            <a:pPr lvl="2"/>
            <a:r>
              <a:rPr lang="en-US" sz="2400" dirty="0"/>
              <a:t>Chemical precipitation or oxidation-reduction of inorganic chemicals; and</a:t>
            </a:r>
            <a:endParaRPr lang="en-IN" sz="2400" dirty="0"/>
          </a:p>
          <a:p>
            <a:pPr lvl="2"/>
            <a:r>
              <a:rPr lang="en-US" sz="2400" dirty="0"/>
              <a:t>Anticipated distance downstream of decreased water quality and the implications for water users and related raw-water quality requirements</a:t>
            </a:r>
            <a:endParaRPr lang="en-IN" sz="2400" dirty="0"/>
          </a:p>
          <a:p>
            <a:pPr lvl="1"/>
            <a:r>
              <a:rPr lang="en-US" dirty="0"/>
              <a:t>Depending upon the particular impact technically demanding mathematical models might be required for prediction</a:t>
            </a:r>
            <a:endParaRPr lang="en-IN" dirty="0"/>
          </a:p>
          <a:p>
            <a:pPr lvl="1"/>
            <a:r>
              <a:rPr lang="en-US" dirty="0"/>
              <a:t>Other approaches include the conduction of laboratory testing, such as, </a:t>
            </a:r>
            <a:r>
              <a:rPr lang="en-US" dirty="0" err="1"/>
              <a:t>leachate</a:t>
            </a:r>
            <a:r>
              <a:rPr lang="en-US" dirty="0"/>
              <a:t> testing for degraded material and for solid or hazardous waste materials or </a:t>
            </a:r>
            <a:r>
              <a:rPr lang="en-US" dirty="0" err="1"/>
              <a:t>sludges</a:t>
            </a:r>
            <a:endParaRPr lang="en-IN" dirty="0"/>
          </a:p>
          <a:p>
            <a:r>
              <a:rPr lang="en-US" b="1" dirty="0"/>
              <a:t>Assessment of impact significance</a:t>
            </a:r>
            <a:endParaRPr lang="en-IN" dirty="0"/>
          </a:p>
          <a:p>
            <a:pPr lvl="1"/>
            <a:r>
              <a:rPr lang="en-US" b="1" dirty="0"/>
              <a:t>Identification and incorporation of mitigation measures</a:t>
            </a:r>
            <a:endParaRPr lang="en-IN" dirty="0"/>
          </a:p>
          <a:p>
            <a:pPr lvl="2"/>
            <a:r>
              <a:rPr lang="en-US" dirty="0"/>
              <a:t>Mitigation measures might consist of decreasing the magnitude of the surface - water impacts or including the features that will compensate for the surface water impacts</a:t>
            </a:r>
            <a:endParaRPr lang="en-IN" dirty="0"/>
          </a:p>
          <a:p>
            <a:pPr lvl="2"/>
            <a:r>
              <a:rPr lang="en-US" dirty="0"/>
              <a:t>The specific mitigation measures depends upon the particular project type and location</a:t>
            </a:r>
            <a:endParaRPr lang="en-IN" dirty="0"/>
          </a:p>
        </p:txBody>
      </p:sp>
    </p:spTree>
    <p:extLst>
      <p:ext uri="{BB962C8B-B14F-4D97-AF65-F5344CB8AC3E}">
        <p14:creationId xmlns:p14="http://schemas.microsoft.com/office/powerpoint/2010/main" val="2947026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28670"/>
            <a:ext cx="8229600" cy="5395930"/>
          </a:xfrm>
        </p:spPr>
        <p:txBody>
          <a:bodyPr>
            <a:normAutofit fontScale="70000" lnSpcReduction="20000"/>
          </a:bodyPr>
          <a:lstStyle/>
          <a:p>
            <a:r>
              <a:rPr lang="en-US" dirty="0"/>
              <a:t>mitigation measures that should be adopted to various water related issues</a:t>
            </a:r>
          </a:p>
          <a:p>
            <a:pPr lvl="1"/>
            <a:r>
              <a:rPr lang="en-US" dirty="0"/>
              <a:t>Decrease surface-water usage and waste water generation</a:t>
            </a:r>
            <a:endParaRPr lang="en-IN" sz="2000" dirty="0"/>
          </a:p>
          <a:p>
            <a:pPr lvl="1"/>
            <a:r>
              <a:rPr lang="en-US" dirty="0"/>
              <a:t>Minimize erosion during the construction and operational phases of the project</a:t>
            </a:r>
            <a:endParaRPr lang="en-IN" sz="2000" dirty="0"/>
          </a:p>
          <a:p>
            <a:pPr lvl="1"/>
            <a:r>
              <a:rPr lang="en-US" dirty="0"/>
              <a:t>In projects involving the use of agricultural chemicals, consider measures that could be used to plan better the timing of chemical applications, the rate of application, and the extent of such applications in an effort to minimize erosion and chemical transport to surface-water systems.</a:t>
            </a:r>
            <a:endParaRPr lang="en-IN" sz="2000" dirty="0"/>
          </a:p>
          <a:p>
            <a:pPr lvl="1"/>
            <a:r>
              <a:rPr lang="en-US" dirty="0"/>
              <a:t>Manage non-point-source pollution through the application of Best Management Practices (BMPs) as determined by a state or a designated area-wide planning agency </a:t>
            </a:r>
            <a:endParaRPr lang="en-IN" sz="2000" dirty="0"/>
          </a:p>
          <a:p>
            <a:pPr lvl="1"/>
            <a:r>
              <a:rPr lang="en-US" dirty="0"/>
              <a:t>Develop a non-point-pollution-control program for coastal waters</a:t>
            </a:r>
            <a:endParaRPr lang="en-IN" sz="2000" dirty="0"/>
          </a:p>
          <a:p>
            <a:pPr lvl="1"/>
            <a:r>
              <a:rPr lang="en-US" dirty="0"/>
              <a:t>Use constructed wetlands to control non-point-source pollution involving nutrients, pesticides and sediments.</a:t>
            </a:r>
            <a:endParaRPr lang="en-IN" sz="2000" dirty="0"/>
          </a:p>
          <a:p>
            <a:pPr lvl="1"/>
            <a:r>
              <a:rPr lang="en-US" dirty="0"/>
              <a:t>Consider alternative wastewater treatment schemes to achieve treatment goals in a cost-effective manner</a:t>
            </a:r>
            <a:endParaRPr lang="en-IN" sz="2000" dirty="0"/>
          </a:p>
          <a:p>
            <a:pPr lvl="2"/>
            <a:r>
              <a:rPr lang="en-US" sz="2400" dirty="0"/>
              <a:t>For point sources, the treatment schemes could include primary, secondary and/  or tertiary processes involving physical. biological and for chemical principles of pollutant removal</a:t>
            </a:r>
            <a:endParaRPr lang="en-IN" dirty="0"/>
          </a:p>
          <a:p>
            <a:pPr lvl="1"/>
            <a:r>
              <a:rPr lang="en-US" dirty="0"/>
              <a:t>Consider project operational modes that minimize detrimental impacts</a:t>
            </a:r>
            <a:endParaRPr lang="en-IN" sz="2000" dirty="0"/>
          </a:p>
          <a:p>
            <a:pPr lvl="1"/>
            <a:r>
              <a:rPr lang="en-US" dirty="0"/>
              <a:t>Use techniques such as sediment removal and </a:t>
            </a:r>
            <a:r>
              <a:rPr lang="en-US" dirty="0" err="1"/>
              <a:t>macrophyte</a:t>
            </a:r>
            <a:r>
              <a:rPr lang="en-US" dirty="0"/>
              <a:t> (weed) harvesting for restoring lakes and reservoirs from water quality deterioration and </a:t>
            </a:r>
            <a:r>
              <a:rPr lang="en-US" dirty="0" err="1"/>
              <a:t>eutrophication</a:t>
            </a:r>
            <a:r>
              <a:rPr lang="en-US" dirty="0"/>
              <a:t> </a:t>
            </a:r>
            <a:endParaRPr lang="en-IN" sz="2000" dirty="0"/>
          </a:p>
          <a:p>
            <a:endParaRPr lang="en-IN" dirty="0"/>
          </a:p>
        </p:txBody>
      </p:sp>
    </p:spTree>
    <p:extLst>
      <p:ext uri="{BB962C8B-B14F-4D97-AF65-F5344CB8AC3E}">
        <p14:creationId xmlns:p14="http://schemas.microsoft.com/office/powerpoint/2010/main" val="2776253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t>Prediction and Assessment of Impacts on</a:t>
            </a:r>
            <a:br>
              <a:rPr lang="en-IN" sz="3600" b="1" dirty="0"/>
            </a:br>
            <a:r>
              <a:rPr lang="en-IN" sz="3600" b="1" dirty="0"/>
              <a:t>Soil and Ground Water Environment</a:t>
            </a:r>
            <a:endParaRPr lang="en-IN" sz="3600" dirty="0"/>
          </a:p>
        </p:txBody>
      </p:sp>
      <p:pic>
        <p:nvPicPr>
          <p:cNvPr id="4" name="Content Placeholder 3">
            <a:extLst>
              <a:ext uri="{FF2B5EF4-FFF2-40B4-BE49-F238E27FC236}">
                <a16:creationId xmlns:a16="http://schemas.microsoft.com/office/drawing/2014/main" id="{D3290D52-DE88-381B-96B2-E1F131AEB867}"/>
              </a:ext>
            </a:extLst>
          </p:cNvPr>
          <p:cNvPicPr>
            <a:picLocks noGrp="1" noChangeAspect="1"/>
          </p:cNvPicPr>
          <p:nvPr>
            <p:ph idx="1"/>
          </p:nvPr>
        </p:nvPicPr>
        <p:blipFill>
          <a:blip r:embed="rId2"/>
          <a:stretch>
            <a:fillRect/>
          </a:stretch>
        </p:blipFill>
        <p:spPr>
          <a:xfrm>
            <a:off x="2971350" y="1901219"/>
            <a:ext cx="6249299" cy="4119649"/>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1DCD-C678-34E9-B243-617DB1B0069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8A5380E-95B1-CDE8-59EF-4EF845322EB0}"/>
              </a:ext>
            </a:extLst>
          </p:cNvPr>
          <p:cNvPicPr>
            <a:picLocks noGrp="1" noChangeAspect="1"/>
          </p:cNvPicPr>
          <p:nvPr>
            <p:ph idx="1"/>
          </p:nvPr>
        </p:nvPicPr>
        <p:blipFill>
          <a:blip r:embed="rId2"/>
          <a:stretch>
            <a:fillRect/>
          </a:stretch>
        </p:blipFill>
        <p:spPr>
          <a:xfrm>
            <a:off x="838200" y="1174076"/>
            <a:ext cx="9910011" cy="5381367"/>
          </a:xfrm>
        </p:spPr>
      </p:pic>
    </p:spTree>
    <p:extLst>
      <p:ext uri="{BB962C8B-B14F-4D97-AF65-F5344CB8AC3E}">
        <p14:creationId xmlns:p14="http://schemas.microsoft.com/office/powerpoint/2010/main" val="962829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40840-C046-517D-AC92-A030C1AECD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2930A5F-9EA7-D5AC-E9BB-8E8F3C9C7C2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A45183C-C487-CFC5-10DA-7B35052A139D}"/>
              </a:ext>
            </a:extLst>
          </p:cNvPr>
          <p:cNvPicPr>
            <a:picLocks noChangeAspect="1"/>
          </p:cNvPicPr>
          <p:nvPr/>
        </p:nvPicPr>
        <p:blipFill>
          <a:blip r:embed="rId2"/>
          <a:stretch>
            <a:fillRect/>
          </a:stretch>
        </p:blipFill>
        <p:spPr>
          <a:xfrm>
            <a:off x="987095" y="1825625"/>
            <a:ext cx="9397037" cy="4351338"/>
          </a:xfrm>
          <a:prstGeom prst="rect">
            <a:avLst/>
          </a:prstGeom>
        </p:spPr>
      </p:pic>
    </p:spTree>
    <p:extLst>
      <p:ext uri="{BB962C8B-B14F-4D97-AF65-F5344CB8AC3E}">
        <p14:creationId xmlns:p14="http://schemas.microsoft.com/office/powerpoint/2010/main" val="2663928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64A8C-89C8-E552-A9A4-E0F9A52699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5A2F91-FE86-4ED8-0224-E9C0F8FAA2F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859C13C-1D51-E94C-A756-6811789B0436}"/>
              </a:ext>
            </a:extLst>
          </p:cNvPr>
          <p:cNvPicPr>
            <a:picLocks noChangeAspect="1"/>
          </p:cNvPicPr>
          <p:nvPr/>
        </p:nvPicPr>
        <p:blipFill>
          <a:blip r:embed="rId2"/>
          <a:stretch>
            <a:fillRect/>
          </a:stretch>
        </p:blipFill>
        <p:spPr>
          <a:xfrm>
            <a:off x="1142442" y="1537124"/>
            <a:ext cx="8932000" cy="4928339"/>
          </a:xfrm>
          <a:prstGeom prst="rect">
            <a:avLst/>
          </a:prstGeom>
        </p:spPr>
      </p:pic>
    </p:spTree>
    <p:extLst>
      <p:ext uri="{BB962C8B-B14F-4D97-AF65-F5344CB8AC3E}">
        <p14:creationId xmlns:p14="http://schemas.microsoft.com/office/powerpoint/2010/main" val="2750863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190CD-7D6F-98DE-8C36-0E4405BCCCF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FF12C58-65B6-7188-D517-18E034847B40}"/>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81D17DF-E3F3-5E79-59EC-08A5300F3F01}"/>
              </a:ext>
            </a:extLst>
          </p:cNvPr>
          <p:cNvPicPr>
            <a:picLocks noChangeAspect="1"/>
          </p:cNvPicPr>
          <p:nvPr/>
        </p:nvPicPr>
        <p:blipFill>
          <a:blip r:embed="rId2"/>
          <a:stretch>
            <a:fillRect/>
          </a:stretch>
        </p:blipFill>
        <p:spPr>
          <a:xfrm>
            <a:off x="2026178" y="1538773"/>
            <a:ext cx="7502833" cy="4790270"/>
          </a:xfrm>
          <a:prstGeom prst="rect">
            <a:avLst/>
          </a:prstGeom>
        </p:spPr>
      </p:pic>
    </p:spTree>
    <p:extLst>
      <p:ext uri="{BB962C8B-B14F-4D97-AF65-F5344CB8AC3E}">
        <p14:creationId xmlns:p14="http://schemas.microsoft.com/office/powerpoint/2010/main" val="222993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C63FA-2825-FDB9-A014-E8A23393A4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52CC1F-E9CB-2FAC-BDC0-FD6A4CDD2CC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CD2FB21-EA0E-836D-A674-3CF6ADAB44DF}"/>
              </a:ext>
            </a:extLst>
          </p:cNvPr>
          <p:cNvPicPr>
            <a:picLocks noChangeAspect="1"/>
          </p:cNvPicPr>
          <p:nvPr/>
        </p:nvPicPr>
        <p:blipFill>
          <a:blip r:embed="rId2"/>
          <a:stretch>
            <a:fillRect/>
          </a:stretch>
        </p:blipFill>
        <p:spPr>
          <a:xfrm>
            <a:off x="1447039" y="2028322"/>
            <a:ext cx="7968138" cy="3945943"/>
          </a:xfrm>
          <a:prstGeom prst="rect">
            <a:avLst/>
          </a:prstGeom>
        </p:spPr>
      </p:pic>
    </p:spTree>
    <p:extLst>
      <p:ext uri="{BB962C8B-B14F-4D97-AF65-F5344CB8AC3E}">
        <p14:creationId xmlns:p14="http://schemas.microsoft.com/office/powerpoint/2010/main" val="535984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CAB2E-18D1-9D64-DC04-4F435203D8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E55CAC-84DD-223B-B177-08CB0E30B6B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9DF1833-699F-835B-7A9A-FFAB5F386DD7}"/>
              </a:ext>
            </a:extLst>
          </p:cNvPr>
          <p:cNvPicPr>
            <a:picLocks noChangeAspect="1"/>
          </p:cNvPicPr>
          <p:nvPr/>
        </p:nvPicPr>
        <p:blipFill>
          <a:blip r:embed="rId2"/>
          <a:stretch>
            <a:fillRect/>
          </a:stretch>
        </p:blipFill>
        <p:spPr>
          <a:xfrm>
            <a:off x="1708180" y="1667752"/>
            <a:ext cx="7963232" cy="4351338"/>
          </a:xfrm>
          <a:prstGeom prst="rect">
            <a:avLst/>
          </a:prstGeom>
        </p:spPr>
      </p:pic>
    </p:spTree>
    <p:extLst>
      <p:ext uri="{BB962C8B-B14F-4D97-AF65-F5344CB8AC3E}">
        <p14:creationId xmlns:p14="http://schemas.microsoft.com/office/powerpoint/2010/main" val="1188143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2"/>
          <p:cNvPicPr>
            <a:picLocks noChangeAspect="1" noChangeArrowheads="1"/>
          </p:cNvPicPr>
          <p:nvPr/>
        </p:nvPicPr>
        <p:blipFill>
          <a:blip r:embed="rId2"/>
          <a:srcRect/>
          <a:stretch>
            <a:fillRect/>
          </a:stretch>
        </p:blipFill>
        <p:spPr bwMode="auto">
          <a:xfrm>
            <a:off x="2137342" y="642918"/>
            <a:ext cx="8121264" cy="6000792"/>
          </a:xfrm>
          <a:prstGeom prst="rect">
            <a:avLst/>
          </a:prstGeom>
          <a:noFill/>
          <a:ln w="9525">
            <a:noFill/>
            <a:miter lim="800000"/>
            <a:headEnd/>
            <a:tailEnd/>
          </a:ln>
          <a:effectLst/>
        </p:spPr>
      </p:pic>
      <p:sp>
        <p:nvSpPr>
          <p:cNvPr id="5" name="Rectangle 4"/>
          <p:cNvSpPr/>
          <p:nvPr/>
        </p:nvSpPr>
        <p:spPr>
          <a:xfrm>
            <a:off x="2666977" y="6488668"/>
            <a:ext cx="3330527" cy="369332"/>
          </a:xfrm>
          <a:prstGeom prst="rect">
            <a:avLst/>
          </a:prstGeom>
        </p:spPr>
        <p:txBody>
          <a:bodyPr wrap="none">
            <a:spAutoFit/>
          </a:bodyPr>
          <a:lstStyle/>
          <a:p>
            <a:r>
              <a:rPr lang="en-IN" b="1" dirty="0"/>
              <a:t>Soil and groundwater effects.</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i="1" dirty="0"/>
              <a:t>Systematic approach for the study of Impacts on Soil and Ground water</a:t>
            </a:r>
            <a:r>
              <a:rPr lang="en-US" sz="3600" dirty="0"/>
              <a:t>: </a:t>
            </a:r>
            <a:endParaRPr lang="en-IN" sz="3200" dirty="0"/>
          </a:p>
        </p:txBody>
      </p:sp>
      <p:sp>
        <p:nvSpPr>
          <p:cNvPr id="3" name="Content Placeholder 2"/>
          <p:cNvSpPr>
            <a:spLocks noGrp="1"/>
          </p:cNvSpPr>
          <p:nvPr>
            <p:ph idx="1"/>
          </p:nvPr>
        </p:nvSpPr>
        <p:spPr>
          <a:xfrm>
            <a:off x="1981200" y="1935480"/>
            <a:ext cx="8229600" cy="4779668"/>
          </a:xfrm>
        </p:spPr>
        <p:txBody>
          <a:bodyPr>
            <a:normAutofit fontScale="70000" lnSpcReduction="20000"/>
          </a:bodyPr>
          <a:lstStyle/>
          <a:p>
            <a:r>
              <a:rPr lang="en-US" i="1" dirty="0"/>
              <a:t>Delineation of study area</a:t>
            </a:r>
            <a:endParaRPr lang="en-IN" sz="2400" dirty="0"/>
          </a:p>
          <a:p>
            <a:pPr lvl="1"/>
            <a:r>
              <a:rPr lang="en-US" dirty="0"/>
              <a:t>The study area should reflect the full reach of possible effects within the particular impact discipline that is being considered</a:t>
            </a:r>
            <a:endParaRPr lang="en-IN" sz="2200" dirty="0"/>
          </a:p>
          <a:p>
            <a:pPr lvl="1"/>
            <a:r>
              <a:rPr lang="en-US" dirty="0"/>
              <a:t>The proposed or future land-use map along with committed land-use policies, zoning, and development projects should be included in the study area.</a:t>
            </a:r>
            <a:endParaRPr lang="en-IN" sz="2200" dirty="0"/>
          </a:p>
          <a:p>
            <a:pPr lvl="1"/>
            <a:r>
              <a:rPr lang="en-US" dirty="0"/>
              <a:t>The map should clearly distinguish between developed and undeveloped land. </a:t>
            </a:r>
            <a:endParaRPr lang="en-IN" sz="2200" dirty="0"/>
          </a:p>
          <a:p>
            <a:pPr lvl="1"/>
            <a:r>
              <a:rPr lang="en-US" dirty="0"/>
              <a:t>Categories shown on land-use map, should be </a:t>
            </a:r>
            <a:endParaRPr lang="en-IN" sz="2200" dirty="0"/>
          </a:p>
          <a:p>
            <a:pPr lvl="2"/>
            <a:r>
              <a:rPr lang="en-US" dirty="0"/>
              <a:t>Residential</a:t>
            </a:r>
            <a:endParaRPr lang="en-IN" sz="1700" dirty="0"/>
          </a:p>
          <a:p>
            <a:pPr lvl="2"/>
            <a:r>
              <a:rPr lang="en-US" dirty="0"/>
              <a:t>Commercial and industrial</a:t>
            </a:r>
            <a:endParaRPr lang="en-IN" sz="1700" dirty="0"/>
          </a:p>
          <a:p>
            <a:pPr lvl="2"/>
            <a:r>
              <a:rPr lang="en-US" dirty="0"/>
              <a:t>Institutional and parks or recreation</a:t>
            </a:r>
            <a:endParaRPr lang="en-IN" sz="1700" dirty="0"/>
          </a:p>
          <a:p>
            <a:pPr lvl="2"/>
            <a:r>
              <a:rPr lang="en-US" dirty="0"/>
              <a:t>Non-urban mixed</a:t>
            </a:r>
            <a:endParaRPr lang="en-IN" sz="1700" dirty="0"/>
          </a:p>
          <a:p>
            <a:pPr lvl="1"/>
            <a:r>
              <a:rPr lang="en-US" dirty="0"/>
              <a:t>The map could include further divisions, such as separate commercial and industrial activity centers and public vacant lands. </a:t>
            </a:r>
            <a:endParaRPr lang="en-IN" sz="2200" dirty="0"/>
          </a:p>
          <a:p>
            <a:pPr lvl="1"/>
            <a:r>
              <a:rPr lang="en-US" dirty="0"/>
              <a:t>The categories to be used will depend largely on the type of project or action being evaluated, the characteristics of the local land area, and the geographic extent of the affected study area. </a:t>
            </a:r>
            <a:endParaRPr lang="en-IN" sz="2200" dirty="0"/>
          </a:p>
          <a:p>
            <a:r>
              <a:rPr lang="en-US" b="1" i="1" dirty="0"/>
              <a:t>Identification of activities of the project, which will have different types of impacts on soil and/or groundwater quantity- quality</a:t>
            </a:r>
            <a:endParaRPr lang="en-IN"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i="1" dirty="0"/>
              <a:t>Preparation of description of existing soil and/or groundwater resource condition</a:t>
            </a:r>
            <a:r>
              <a:rPr lang="en-US" dirty="0"/>
              <a:t>: </a:t>
            </a:r>
            <a:endParaRPr lang="en-IN" sz="2400" dirty="0"/>
          </a:p>
          <a:p>
            <a:pPr lvl="0"/>
            <a:r>
              <a:rPr lang="en-US" b="1" dirty="0"/>
              <a:t>Background Information on the Soil Environment</a:t>
            </a:r>
            <a:endParaRPr lang="en-IN" sz="2400" dirty="0"/>
          </a:p>
          <a:p>
            <a:pPr lvl="1"/>
            <a:r>
              <a:rPr lang="en-US" i="1" dirty="0"/>
              <a:t>Soil Characteristics</a:t>
            </a:r>
            <a:endParaRPr lang="en-IN" sz="2000" dirty="0"/>
          </a:p>
          <a:p>
            <a:pPr lvl="2"/>
            <a:r>
              <a:rPr lang="en-US" sz="2400" dirty="0"/>
              <a:t>Soil characteristics in a given geographical area at a given point of time are a function of both natural influences and human activities.</a:t>
            </a:r>
            <a:endParaRPr lang="en-IN" dirty="0"/>
          </a:p>
          <a:p>
            <a:pPr lvl="2"/>
            <a:r>
              <a:rPr lang="en-US" sz="2400" dirty="0"/>
              <a:t>The soil and geological environments are typically associated with the physical and chemical environment</a:t>
            </a:r>
            <a:endParaRPr lang="en-IN" dirty="0"/>
          </a:p>
          <a:p>
            <a:pPr lvl="1"/>
            <a:r>
              <a:rPr lang="en-US" dirty="0"/>
              <a:t>The relationship between shallow, alluvial aquifers and the flow of surface streams and rivers may need to be explored</a:t>
            </a:r>
            <a:endParaRPr lang="en-IN" sz="2000" dirty="0"/>
          </a:p>
          <a:p>
            <a:pPr lvl="0"/>
            <a:r>
              <a:rPr lang="en-US" b="1" dirty="0"/>
              <a:t>Unique Soil or Groundwater Problems</a:t>
            </a:r>
            <a:endParaRPr lang="en-IN" sz="2400" dirty="0"/>
          </a:p>
          <a:p>
            <a:pPr lvl="1"/>
            <a:r>
              <a:rPr lang="en-US" dirty="0"/>
              <a:t>Many geographical areas exhibit special or unique problems that should be addressed in the description of baseline conditions for the soil or groundwater resources in the study area</a:t>
            </a:r>
            <a:r>
              <a:rPr lang="en-US" b="1" dirty="0"/>
              <a:t> </a:t>
            </a:r>
            <a:endParaRPr lang="en-IN" sz="2000" dirty="0"/>
          </a:p>
          <a:p>
            <a:pPr lvl="1"/>
            <a:r>
              <a:rPr lang="en-US" dirty="0"/>
              <a:t>Examples: saline seeps, groundwater supplies relative to existing bacteriological or other quality constituents, poor natural quality, and the presence of hazardous waste sites </a:t>
            </a:r>
            <a:endParaRPr lang="en-IN" sz="2000" dirty="0"/>
          </a:p>
          <a:p>
            <a:pPr lvl="0"/>
            <a:r>
              <a:rPr lang="en-US" b="1" dirty="0"/>
              <a:t>Pollution Sources and Groundwater Users</a:t>
            </a:r>
            <a:endParaRPr lang="en-IN" sz="2400" dirty="0"/>
          </a:p>
          <a:p>
            <a:pPr lvl="1"/>
            <a:r>
              <a:rPr lang="en-US" dirty="0"/>
              <a:t>It is appropriate to consider which other potential and actual sources of soil and/or groundwater pollution may exist in the study area</a:t>
            </a:r>
            <a:endParaRPr lang="en-IN" sz="2000" dirty="0"/>
          </a:p>
          <a:p>
            <a:pPr lvl="1"/>
            <a:r>
              <a:rPr lang="en-US" dirty="0"/>
              <a:t>Consideration of current and potential future usage of the groundwater resource for purposes of water supply techniques</a:t>
            </a:r>
            <a:endParaRPr lang="en-IN" sz="2000" dirty="0"/>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28670"/>
            <a:ext cx="8543956" cy="5929330"/>
          </a:xfrm>
        </p:spPr>
        <p:txBody>
          <a:bodyPr>
            <a:normAutofit fontScale="70000" lnSpcReduction="20000"/>
          </a:bodyPr>
          <a:lstStyle/>
          <a:p>
            <a:r>
              <a:rPr lang="en-US" b="1" i="1" dirty="0"/>
              <a:t>Procurement of relevant soil and/or groundwater quantity/quality standards:</a:t>
            </a:r>
            <a:endParaRPr lang="en-IN" sz="2400" b="1" dirty="0"/>
          </a:p>
          <a:p>
            <a:pPr lvl="1"/>
            <a:r>
              <a:rPr lang="en-US" dirty="0"/>
              <a:t>Land-use restrictions, soil quality standards, soil reclamation requirements, and groundwater quantity - quality standards, regulations, or policies are examples of institutional measures, which can be used to determine impact significance and required mitigation measures. </a:t>
            </a:r>
            <a:endParaRPr lang="en-IN" sz="2200" dirty="0"/>
          </a:p>
          <a:p>
            <a:pPr lvl="1"/>
            <a:r>
              <a:rPr lang="en-US" dirty="0"/>
              <a:t>Thus, to determine the specific requirements for a given project area will require contacting appropriate governmental agencies with jurisdiction </a:t>
            </a:r>
            <a:endParaRPr lang="en-IN" sz="2200" dirty="0"/>
          </a:p>
          <a:p>
            <a:pPr lvl="1">
              <a:buNone/>
            </a:pPr>
            <a:endParaRPr lang="en-IN" sz="2200" dirty="0"/>
          </a:p>
          <a:p>
            <a:r>
              <a:rPr lang="en-US" b="1" i="1" dirty="0"/>
              <a:t>Impact prediction for soil and/or groundwater environment:</a:t>
            </a:r>
            <a:endParaRPr lang="en-IN" sz="2400" b="1" dirty="0"/>
          </a:p>
          <a:p>
            <a:pPr lvl="1"/>
            <a:r>
              <a:rPr lang="en-US" dirty="0"/>
              <a:t>The prediction of the impacts of a project - activity on the soil and/or ground – water environment(s), or conversely, the potential influence of the environment(s) on a proposed project, can be approached from three perspectives.</a:t>
            </a:r>
            <a:endParaRPr lang="en-IN" sz="2200" dirty="0"/>
          </a:p>
          <a:p>
            <a:pPr lvl="2"/>
            <a:r>
              <a:rPr lang="en-US" dirty="0"/>
              <a:t>Qualitative</a:t>
            </a:r>
            <a:endParaRPr lang="en-IN" sz="1700" dirty="0"/>
          </a:p>
          <a:p>
            <a:pPr lvl="2"/>
            <a:r>
              <a:rPr lang="en-US" dirty="0"/>
              <a:t>Simple quantitative, and</a:t>
            </a:r>
            <a:endParaRPr lang="en-IN" sz="1700" dirty="0"/>
          </a:p>
          <a:p>
            <a:pPr lvl="2"/>
            <a:r>
              <a:rPr lang="en-US" dirty="0"/>
              <a:t>Specific quantitative</a:t>
            </a:r>
            <a:endParaRPr lang="en-IN" sz="1700" dirty="0"/>
          </a:p>
          <a:p>
            <a:pPr lvl="1"/>
            <a:r>
              <a:rPr lang="en-US" dirty="0"/>
              <a:t>Efforts should be made to quantify the anticipated impacts</a:t>
            </a:r>
            <a:endParaRPr lang="en-IN" sz="2200" dirty="0"/>
          </a:p>
          <a:p>
            <a:pPr lvl="2"/>
            <a:r>
              <a:rPr lang="en-US" dirty="0"/>
              <a:t>However, in many cases this will be impossible and reliance must be given to qualitative trend </a:t>
            </a:r>
            <a:endParaRPr lang="en-IN" sz="1700" dirty="0"/>
          </a:p>
          <a:p>
            <a:pPr lvl="1"/>
            <a:r>
              <a:rPr lang="en-US" dirty="0"/>
              <a:t>Through the spreading of excess sub-soil over the right - of - way during clean-up.</a:t>
            </a:r>
            <a:endParaRPr lang="en-IN" sz="2200" dirty="0"/>
          </a:p>
          <a:p>
            <a:pPr lvl="1"/>
            <a:r>
              <a:rPr lang="en-US" dirty="0"/>
              <a:t>Qualitative Approaches-Groundwater Impacts</a:t>
            </a:r>
            <a:endParaRPr lang="en-IN" sz="2200" dirty="0"/>
          </a:p>
          <a:p>
            <a:pPr lvl="2"/>
            <a:r>
              <a:rPr lang="en-US" dirty="0"/>
              <a:t>A qualitative approach for groundwater - impact prediction involves the fundamental subsurface environmental processes</a:t>
            </a:r>
            <a:endParaRPr lang="en-IN" sz="1700" dirty="0"/>
          </a:p>
          <a:p>
            <a:pPr lvl="3"/>
            <a:r>
              <a:rPr lang="en-US" sz="2300" dirty="0"/>
              <a:t>Can be examined relative to their hydrodynamic (physical), biotic (chemical) aspects. </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28670"/>
            <a:ext cx="8472518" cy="5715040"/>
          </a:xfrm>
        </p:spPr>
        <p:txBody>
          <a:bodyPr>
            <a:normAutofit fontScale="70000" lnSpcReduction="20000"/>
          </a:bodyPr>
          <a:lstStyle/>
          <a:p>
            <a:r>
              <a:rPr lang="en-US" b="1" i="1" dirty="0"/>
              <a:t>Assessment of impact significance:</a:t>
            </a:r>
            <a:endParaRPr lang="en-IN" sz="2400" b="1" dirty="0"/>
          </a:p>
          <a:p>
            <a:pPr lvl="1"/>
            <a:r>
              <a:rPr lang="en-US" i="1" dirty="0"/>
              <a:t>Leaching into Soil  and Groundwater</a:t>
            </a:r>
            <a:endParaRPr lang="en-IN" sz="2200" dirty="0"/>
          </a:p>
          <a:p>
            <a:pPr lvl="2"/>
            <a:r>
              <a:rPr lang="en-US" dirty="0"/>
              <a:t>The volume of </a:t>
            </a:r>
            <a:r>
              <a:rPr lang="en-US" dirty="0" err="1"/>
              <a:t>leachate</a:t>
            </a:r>
            <a:r>
              <a:rPr lang="en-US" dirty="0"/>
              <a:t> percolating through a site can be predicted using mathematical models such as the water balance method in sites above the water table. </a:t>
            </a:r>
            <a:endParaRPr lang="en-IN" sz="1700" dirty="0"/>
          </a:p>
          <a:p>
            <a:pPr lvl="1"/>
            <a:r>
              <a:rPr lang="en-US" dirty="0"/>
              <a:t>For predicting long-term effects</a:t>
            </a:r>
            <a:endParaRPr lang="en-IN" sz="2200" dirty="0"/>
          </a:p>
          <a:p>
            <a:pPr lvl="2"/>
            <a:r>
              <a:rPr lang="en-US" dirty="0"/>
              <a:t>Change in storage can be assumed to be zero</a:t>
            </a:r>
            <a:endParaRPr lang="en-IN" sz="1700" dirty="0"/>
          </a:p>
          <a:p>
            <a:pPr lvl="2"/>
            <a:r>
              <a:rPr lang="en-US" dirty="0" err="1"/>
              <a:t>Evapotranspiration</a:t>
            </a:r>
            <a:r>
              <a:rPr lang="en-US" dirty="0"/>
              <a:t> can be based on existing data or experiments</a:t>
            </a:r>
            <a:endParaRPr lang="en-IN" sz="1700" dirty="0"/>
          </a:p>
          <a:p>
            <a:pPr lvl="2"/>
            <a:r>
              <a:rPr lang="en-US" dirty="0"/>
              <a:t>Run-off can be calculated using an empirical model based on surface conditions and slopes</a:t>
            </a:r>
            <a:r>
              <a:rPr lang="en-US" i="1" dirty="0"/>
              <a:t> </a:t>
            </a:r>
            <a:endParaRPr lang="en-IN" sz="1700" dirty="0"/>
          </a:p>
          <a:p>
            <a:pPr lvl="1"/>
            <a:r>
              <a:rPr lang="en-US" i="1" dirty="0"/>
              <a:t>Changes in Groundwater Flow</a:t>
            </a:r>
            <a:endParaRPr lang="en-IN" sz="2200" dirty="0"/>
          </a:p>
          <a:p>
            <a:pPr lvl="1"/>
            <a:r>
              <a:rPr lang="en-US" dirty="0"/>
              <a:t>The effects of physical disturbances and discharge of liquid effluents on groundwater include changes in the availability of soil moisture for soil microorganisms and plants, reducing the available yield for abstraction which can lead to saltwater intrusion to underground water1sources or a change in the hydrology of surface waters</a:t>
            </a:r>
            <a:r>
              <a:rPr lang="en-US" i="1" dirty="0"/>
              <a:t> </a:t>
            </a:r>
            <a:endParaRPr lang="en-IN" sz="2200" dirty="0"/>
          </a:p>
          <a:p>
            <a:pPr lvl="1"/>
            <a:r>
              <a:rPr lang="en-US" dirty="0"/>
              <a:t>Mathematical models are primarily based on analytical or numerical solution of equations for conservation of mass using Darcy's law.</a:t>
            </a:r>
            <a:r>
              <a:rPr lang="en-US" i="1" dirty="0"/>
              <a:t> </a:t>
            </a:r>
            <a:endParaRPr lang="en-IN" sz="2200" dirty="0"/>
          </a:p>
          <a:p>
            <a:pPr lvl="1"/>
            <a:r>
              <a:rPr lang="en-US" dirty="0"/>
              <a:t>The groundwater system can be divided into one. two, or three segments depending on the directions of flows within the system</a:t>
            </a:r>
            <a:endParaRPr lang="en-IN" sz="2200" dirty="0"/>
          </a:p>
          <a:p>
            <a:pPr lvl="1"/>
            <a:r>
              <a:rPr lang="en-US" dirty="0"/>
              <a:t>The flows into and out of each segment are then balanced using Darcy's equation.</a:t>
            </a:r>
            <a:r>
              <a:rPr lang="en-US" i="1" dirty="0"/>
              <a:t> </a:t>
            </a:r>
            <a:endParaRPr lang="en-IN" sz="2200" dirty="0"/>
          </a:p>
          <a:p>
            <a:pPr lvl="1"/>
            <a:r>
              <a:rPr lang="en-US" i="1" dirty="0"/>
              <a:t>Changes in Groundwater Quality</a:t>
            </a:r>
            <a:endParaRPr lang="en-IN" sz="2200" dirty="0"/>
          </a:p>
          <a:p>
            <a:pPr lvl="1"/>
            <a:r>
              <a:rPr lang="en-US" dirty="0"/>
              <a:t>Superimposing models of chemical conversion. biological breakdown, system process, etc. can simulate the behavior of non- conservative pollutants</a:t>
            </a:r>
            <a:endParaRPr lang="en-IN" sz="2200" dirty="0"/>
          </a:p>
          <a:p>
            <a:pPr lvl="2"/>
            <a:r>
              <a:rPr lang="en-US" dirty="0"/>
              <a:t>Tracer experiments may be used to predict dispersion of pollutants in groundwater.</a:t>
            </a:r>
            <a:r>
              <a:rPr lang="en-US" i="1" dirty="0"/>
              <a:t> </a:t>
            </a:r>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1158" y="857232"/>
            <a:ext cx="8643998" cy="5857916"/>
          </a:xfrm>
        </p:spPr>
        <p:txBody>
          <a:bodyPr>
            <a:normAutofit fontScale="62500" lnSpcReduction="20000"/>
          </a:bodyPr>
          <a:lstStyle/>
          <a:p>
            <a:r>
              <a:rPr lang="en-US" b="1" i="1" dirty="0"/>
              <a:t>Identification and incorporation of mitigation measures</a:t>
            </a:r>
            <a:endParaRPr lang="en-IN" sz="2400" b="1" dirty="0"/>
          </a:p>
          <a:p>
            <a:pPr lvl="1"/>
            <a:r>
              <a:rPr lang="en-US" b="1" dirty="0"/>
              <a:t>Mitigation Measures to Prevent Soil Erosion, Compaction and Ground Water Pollution During and After Execution of Any Developmental Project</a:t>
            </a:r>
            <a:endParaRPr lang="en-IN" sz="2200" dirty="0"/>
          </a:p>
          <a:p>
            <a:pPr lvl="2"/>
            <a:r>
              <a:rPr lang="en-US" dirty="0"/>
              <a:t>Use of techniques to decrease soil erosion during either the construction or operational phase of the project. </a:t>
            </a:r>
            <a:endParaRPr lang="en-IN" sz="1700" dirty="0"/>
          </a:p>
          <a:p>
            <a:pPr lvl="2"/>
            <a:r>
              <a:rPr lang="en-US" dirty="0"/>
              <a:t>Where possible gentle gradients should be treated and steep slopes avoided.</a:t>
            </a:r>
            <a:endParaRPr lang="en-IN" sz="1700" dirty="0"/>
          </a:p>
          <a:p>
            <a:pPr lvl="2"/>
            <a:r>
              <a:rPr lang="en-US" dirty="0"/>
              <a:t>Suitable drainage systems to direct water ways from slopes should be installed</a:t>
            </a:r>
            <a:endParaRPr lang="en-IN" sz="1700" dirty="0"/>
          </a:p>
          <a:p>
            <a:pPr lvl="2"/>
            <a:r>
              <a:rPr lang="en-US" dirty="0"/>
              <a:t>Creating large open expanses of bare soil should be avoided. These are more susceptible to wind erosion. If such large areas are created then wind breaks may be a useful mitigation procedure.</a:t>
            </a:r>
            <a:endParaRPr lang="en-IN" sz="1700" dirty="0"/>
          </a:p>
          <a:p>
            <a:pPr lvl="2"/>
            <a:r>
              <a:rPr lang="en-US" dirty="0"/>
              <a:t>If the development is near to a water body siltation traps may need to be installed to trap sediment and prevent any damage to the fresh water ecosystem</a:t>
            </a:r>
            <a:endParaRPr lang="en-IN" sz="1700" dirty="0"/>
          </a:p>
          <a:p>
            <a:pPr lvl="2"/>
            <a:r>
              <a:rPr lang="en-US" dirty="0"/>
              <a:t>Driving over the soil should be avoided or use wide </a:t>
            </a:r>
            <a:r>
              <a:rPr lang="en-US" dirty="0" err="1"/>
              <a:t>tyres</a:t>
            </a:r>
            <a:r>
              <a:rPr lang="en-US" dirty="0"/>
              <a:t> to spread the weight of vehicles thereby avoiding compaction </a:t>
            </a:r>
            <a:endParaRPr lang="en-IN" sz="1700" dirty="0"/>
          </a:p>
          <a:p>
            <a:pPr lvl="2"/>
            <a:r>
              <a:rPr lang="en-US" dirty="0"/>
              <a:t>Few tracks too should bring vehicles to the working area</a:t>
            </a:r>
            <a:endParaRPr lang="en-IN" sz="1700" dirty="0"/>
          </a:p>
          <a:p>
            <a:pPr lvl="2"/>
            <a:r>
              <a:rPr lang="en-US" dirty="0"/>
              <a:t>Cultivate the area after compaction has taken place. Rotation of land-use practices in the project area can be adopted to permit natural recovery without the continuing stress related to anyone land-use practice. Examples include the rotation of military training areas, agricultural crops in given geographical areas, and grazing patterns in areas permitted by pertinent governmental agencies.</a:t>
            </a:r>
            <a:endParaRPr lang="en-IN" sz="1700" dirty="0"/>
          </a:p>
          <a:p>
            <a:pPr lvl="2"/>
            <a:r>
              <a:rPr lang="en-US" dirty="0"/>
              <a:t>The project can be designed to exhibit greater earthquake resistance if this is a potential concern for the project area. Examples include structural designs for withstanding shocks associated with the occurrence of earthquake </a:t>
            </a:r>
            <a:endParaRPr lang="en-IN" sz="1700" dirty="0"/>
          </a:p>
          <a:p>
            <a:pPr lvl="2"/>
            <a:r>
              <a:rPr lang="en-US" dirty="0"/>
              <a:t>For projects involving usage of the groundwater resource, groundwater usage could be decreased.</a:t>
            </a:r>
            <a:endParaRPr lang="en-IN" sz="1700" dirty="0"/>
          </a:p>
          <a:p>
            <a:pPr lvl="2"/>
            <a:r>
              <a:rPr lang="en-US" dirty="0"/>
              <a:t>If the potential impact of concern is land subsidence management, techniques to minimize groundwater usage in the area where subsidence is expected to occur could be implemented. These could encompass water conservation measures so as to reduce groundwater requirements.</a:t>
            </a:r>
            <a:endParaRPr lang="en-IN" sz="1700" dirty="0"/>
          </a:p>
          <a:p>
            <a:pPr lvl="2"/>
            <a:r>
              <a:rPr lang="en-US" dirty="0"/>
              <a:t>Development of comparative information to enable more systematic site selections, which will, in turn, make maximum usage of the natural attenuation capacity of given environmental settings to prevent groundwater contamination</a:t>
            </a:r>
            <a:r>
              <a:rPr lang="en-US" i="1" dirty="0"/>
              <a:t> </a:t>
            </a:r>
            <a:endParaRPr lang="en-IN" sz="1700" dirty="0"/>
          </a:p>
          <a:p>
            <a:pPr lvl="2"/>
            <a:r>
              <a:rPr lang="en-US" dirty="0"/>
              <a:t>For projects, which may be of concern because of </a:t>
            </a:r>
            <a:r>
              <a:rPr lang="en-US" dirty="0" err="1"/>
              <a:t>leachate</a:t>
            </a:r>
            <a:r>
              <a:rPr lang="en-US" dirty="0"/>
              <a:t> generation, measures could be taken to immobilize the constituents and prevent their generation. </a:t>
            </a:r>
            <a:endParaRPr lang="en-IN" sz="1700" dirty="0"/>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22</TotalTime>
  <Words>3008</Words>
  <Application>Microsoft Office PowerPoint</Application>
  <PresentationFormat>Widescreen</PresentationFormat>
  <Paragraphs>206</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Aptos Display</vt:lpstr>
      <vt:lpstr>Arial</vt:lpstr>
      <vt:lpstr>Office Theme</vt:lpstr>
      <vt:lpstr>PowerPoint Presentation</vt:lpstr>
      <vt:lpstr>UNIT III</vt:lpstr>
      <vt:lpstr>LIST OF PROJECTS REQUIRING AN EIA</vt:lpstr>
      <vt:lpstr>PowerPoint Presentation</vt:lpstr>
      <vt:lpstr>Rules and Legislation</vt:lpstr>
      <vt:lpstr>Hydrological Cycle</vt:lpstr>
      <vt:lpstr>PowerPoint Presentation</vt:lpstr>
      <vt:lpstr>PowerPoint Presentation</vt:lpstr>
      <vt:lpstr>PowerPoint Presentation</vt:lpstr>
      <vt:lpstr>PowerPoint Presentation</vt:lpstr>
      <vt:lpstr>Projects Which Create Impact Concerns for the Surface-Water Environment</vt:lpstr>
      <vt:lpstr>The environmental effects on surface water are given below.</vt:lpstr>
      <vt:lpstr>PowerPoint Presentation</vt:lpstr>
      <vt:lpstr>PowerPoint Presentation</vt:lpstr>
      <vt:lpstr>PowerPoint Presentation</vt:lpstr>
      <vt:lpstr>PowerPoint Presentation</vt:lpstr>
      <vt:lpstr>PowerPoint Presentation</vt:lpstr>
      <vt:lpstr>PowerPoint Presentation</vt:lpstr>
      <vt:lpstr>Prediction and Assessment of Impacts on Soil and Ground Water Environment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Systematic approach for the study of Impacts on Soil and Ground water: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Purushothaman P 102529</dc:creator>
  <cp:lastModifiedBy>Purushothaman P 102529</cp:lastModifiedBy>
  <cp:revision>3</cp:revision>
  <dcterms:created xsi:type="dcterms:W3CDTF">2025-03-03T07:10:17Z</dcterms:created>
  <dcterms:modified xsi:type="dcterms:W3CDTF">2025-03-03T07:32:29Z</dcterms:modified>
</cp:coreProperties>
</file>